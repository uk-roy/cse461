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144000"/>
  <p:embeddedFontLst>
    <p:embeddedFont>
      <p:font typeface="Roboto"/>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BF6F0A-18F7-44F4-A4D5-543CD36E3EF8}">
  <a:tblStyle styleId="{96BF6F0A-18F7-44F4-A4D5-543CD36E3EF8}" styleName="Table_0">
    <a:wholeTbl>
      <a:tcTxStyle>
        <a:font>
          <a:latin typeface="Arial"/>
          <a:ea typeface="Arial"/>
          <a:cs typeface="Arial"/>
        </a:font>
        <a:srgbClr val="000000"/>
      </a:tcTxStyle>
      <a:tcStyle>
        <a:tcBdr>
          <a:left>
            <a:ln cap="flat" cmpd="sng" w="12700">
              <a:solidFill>
                <a:srgbClr val="B6D7A8"/>
              </a:solidFill>
              <a:prstDash val="solid"/>
              <a:round/>
              <a:headEnd len="sm" w="sm" type="none"/>
              <a:tailEnd len="sm" w="sm" type="none"/>
            </a:ln>
          </a:left>
          <a:right>
            <a:ln cap="flat" cmpd="sng" w="12700">
              <a:solidFill>
                <a:srgbClr val="B6D7A8"/>
              </a:solidFill>
              <a:prstDash val="solid"/>
              <a:round/>
              <a:headEnd len="sm" w="sm" type="none"/>
              <a:tailEnd len="sm" w="sm" type="none"/>
            </a:ln>
          </a:right>
          <a:top>
            <a:ln cap="flat" cmpd="sng" w="12700">
              <a:solidFill>
                <a:srgbClr val="B6D7A8"/>
              </a:solidFill>
              <a:prstDash val="solid"/>
              <a:round/>
              <a:headEnd len="sm" w="sm" type="none"/>
              <a:tailEnd len="sm" w="sm" type="none"/>
            </a:ln>
          </a:top>
          <a:bottom>
            <a:ln cap="flat" cmpd="sng" w="12700">
              <a:solidFill>
                <a:srgbClr val="B6D7A8"/>
              </a:solidFill>
              <a:prstDash val="solid"/>
              <a:round/>
              <a:headEnd len="sm" w="sm" type="none"/>
              <a:tailEnd len="sm" w="sm" type="none"/>
            </a:ln>
          </a:bottom>
          <a:insideH>
            <a:ln cap="flat" cmpd="sng" w="12700">
              <a:solidFill>
                <a:srgbClr val="B6D7A8"/>
              </a:solidFill>
              <a:prstDash val="solid"/>
              <a:round/>
              <a:headEnd len="sm" w="sm" type="none"/>
              <a:tailEnd len="sm" w="sm" type="none"/>
            </a:ln>
          </a:insideH>
          <a:insideV>
            <a:ln cap="flat" cmpd="sng" w="12700">
              <a:solidFill>
                <a:srgbClr val="B6D7A8"/>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C068522-B7C6-41B1-AC42-EDB982F6AFDB}"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Roboto-bold.fntdata"/><Relationship Id="rId23" Type="http://schemas.openxmlformats.org/officeDocument/2006/relationships/slide" Target="slides/slide17.xml"/><Relationship Id="rId45"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Roboto-boldItalic.fntdata"/><Relationship Id="rId25" Type="http://schemas.openxmlformats.org/officeDocument/2006/relationships/slide" Target="slides/slide19.xml"/><Relationship Id="rId47" Type="http://schemas.openxmlformats.org/officeDocument/2006/relationships/font" Target="fonts/Roboto-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8" name="Google Shape;9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5" name="Google Shape;125;p8: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2" name="Google Shape;13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bc36c9a65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bc36c9a65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7" name="Google Shape;147;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be73848e18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be73848e18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7" name="Google Shape;167;p13: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4: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8: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9: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2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5" name="Google Shape;2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3" name="Google Shape;2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0" name="Google Shape;23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8" name="Google Shape;23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e7998ae76_1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3be7998ae76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1" name="Google Shape;251;p24: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7: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8: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5" name="Google Shape;285;p29: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p30: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32: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4" name="Google Shape;314;p33: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2" name="Google Shape;322;p34:notes"/>
          <p:cNvSpPr/>
          <p:nvPr>
            <p:ph idx="2" type="sldImg"/>
          </p:nvPr>
        </p:nvSpPr>
        <p:spPr>
          <a:xfrm>
            <a:off x="1143213"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be7998ae76_1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be7998ae76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 name="Google Shape;14;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5"/>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9" name="Google Shape;29;p5"/>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0" name="Shape 30"/>
        <p:cNvGrpSpPr/>
        <p:nvPr/>
      </p:nvGrpSpPr>
      <p:grpSpPr>
        <a:xfrm>
          <a:off x="0" y="0"/>
          <a:ext cx="0" cy="0"/>
          <a:chOff x="0" y="0"/>
          <a:chExt cx="0" cy="0"/>
        </a:xfrm>
      </p:grpSpPr>
      <p:sp>
        <p:nvSpPr>
          <p:cNvPr id="31" name="Google Shape;31;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3" name="Google Shape;33;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 name="Google Shape;4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43" name="Shape 43"/>
        <p:cNvGrpSpPr/>
        <p:nvPr/>
      </p:nvGrpSpPr>
      <p:grpSpPr>
        <a:xfrm>
          <a:off x="0" y="0"/>
          <a:ext cx="0" cy="0"/>
          <a:chOff x="0" y="0"/>
          <a:chExt cx="0" cy="0"/>
        </a:xfrm>
      </p:grpSpPr>
      <p:sp>
        <p:nvSpPr>
          <p:cNvPr id="44" name="Google Shape;44;p8"/>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5" name="Google Shape;45;p8"/>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9"/>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8" name="Google Shape;48;p9"/>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2" name="Google Shape;52;p1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3" name="Google Shape;53;p1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54" name="Google Shape;54;p1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5" name="Google Shape;5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61" name="Google Shape;6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7" name="Google Shape;67;p1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3"/>
          <p:cNvSpPr/>
          <p:nvPr>
            <p:ph idx="2" type="pic"/>
          </p:nvPr>
        </p:nvSpPr>
        <p:spPr>
          <a:xfrm>
            <a:off x="1792288" y="612775"/>
            <a:ext cx="5486400" cy="4114800"/>
          </a:xfrm>
          <a:prstGeom prst="rect">
            <a:avLst/>
          </a:prstGeom>
          <a:noFill/>
          <a:ln>
            <a:noFill/>
          </a:ln>
        </p:spPr>
      </p:sp>
      <p:sp>
        <p:nvSpPr>
          <p:cNvPr id="74" name="Google Shape;74;p1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75" name="Google Shape;75;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4"/>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5"/>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7" name="Google Shape;8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gif"/><Relationship Id="rId4" Type="http://schemas.openxmlformats.org/officeDocument/2006/relationships/image" Target="../media/image23.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2.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5.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hyperlink" Target="https://youtu.be/LAtPHANEfQ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22.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hyperlink" Target="https://youtu.be/eyqwLiowZiU"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18.png"/><Relationship Id="rId4" Type="http://schemas.openxmlformats.org/officeDocument/2006/relationships/image" Target="../media/image30.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2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5.png"/><Relationship Id="rId4" Type="http://schemas.openxmlformats.org/officeDocument/2006/relationships/image" Target="../media/image3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3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8.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25.png"/><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42.jpg"/><Relationship Id="rId4" Type="http://schemas.openxmlformats.org/officeDocument/2006/relationships/image" Target="../media/image3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36.jpg"/><Relationship Id="rId4" Type="http://schemas.openxmlformats.org/officeDocument/2006/relationships/image" Target="../media/image41.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Introduction to Robotics</a:t>
            </a:r>
            <a:br>
              <a:rPr lang="en-US"/>
            </a:br>
            <a:r>
              <a:rPr lang="en-US"/>
              <a:t>CSE461</a:t>
            </a:r>
            <a:endParaRPr/>
          </a:p>
        </p:txBody>
      </p:sp>
      <p:sp>
        <p:nvSpPr>
          <p:cNvPr id="95" name="Google Shape;95;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Clr>
                <a:srgbClr val="888888"/>
              </a:buClr>
              <a:buSzPts val="3200"/>
              <a:buNone/>
            </a:pPr>
            <a:r>
              <a:rPr lang="en-US"/>
              <a:t>BRAC University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descr="E:\Arif\Summer2020\CSE461\Lectures\intro pics\Robotics and Embedded Systems-28.jpg" id="100" name="Google Shape;100;p17"/>
          <p:cNvPicPr preferRelativeResize="0"/>
          <p:nvPr/>
        </p:nvPicPr>
        <p:blipFill rotWithShape="1">
          <a:blip r:embed="rId3">
            <a:alphaModFix/>
          </a:blip>
          <a:srcRect b="0" l="0" r="0" t="0"/>
          <a:stretch/>
        </p:blipFill>
        <p:spPr>
          <a:xfrm>
            <a:off x="0" y="0"/>
            <a:ext cx="9143998" cy="68579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pic>
        <p:nvPicPr>
          <p:cNvPr descr="E:\Arif\Summer2020\CSE461\Lectures\intro pics\Robotics and Embedded Systems-28.jpg" id="105" name="Google Shape;105;p18"/>
          <p:cNvPicPr preferRelativeResize="0"/>
          <p:nvPr/>
        </p:nvPicPr>
        <p:blipFill rotWithShape="1">
          <a:blip r:embed="rId3">
            <a:alphaModFix/>
          </a:blip>
          <a:srcRect b="0" l="0" r="0" t="0"/>
          <a:stretch/>
        </p:blipFill>
        <p:spPr>
          <a:xfrm>
            <a:off x="0" y="0"/>
            <a:ext cx="9143998" cy="6857998"/>
          </a:xfrm>
          <a:prstGeom prst="rect">
            <a:avLst/>
          </a:prstGeom>
          <a:noFill/>
          <a:ln>
            <a:noFill/>
          </a:ln>
        </p:spPr>
      </p:pic>
      <p:sp>
        <p:nvSpPr>
          <p:cNvPr id="106" name="Google Shape;106;p18"/>
          <p:cNvSpPr/>
          <p:nvPr/>
        </p:nvSpPr>
        <p:spPr>
          <a:xfrm>
            <a:off x="1924325" y="1607000"/>
            <a:ext cx="1586700" cy="737100"/>
          </a:xfrm>
          <a:prstGeom prst="roundRect">
            <a:avLst>
              <a:gd fmla="val 7147"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US" sz="2500" u="none" cap="none" strike="noStrike">
                <a:solidFill>
                  <a:schemeClr val="lt1"/>
                </a:solidFill>
                <a:latin typeface="Calibri"/>
                <a:ea typeface="Calibri"/>
                <a:cs typeface="Calibri"/>
                <a:sym typeface="Calibri"/>
              </a:rPr>
              <a:t>Motion</a:t>
            </a:r>
            <a:endParaRPr b="0" i="0" sz="25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pic>
        <p:nvPicPr>
          <p:cNvPr id="111" name="Google Shape;111;p19"/>
          <p:cNvPicPr preferRelativeResize="0"/>
          <p:nvPr/>
        </p:nvPicPr>
        <p:blipFill rotWithShape="1">
          <a:blip r:embed="rId3">
            <a:alphaModFix/>
          </a:blip>
          <a:srcRect b="0" l="0" r="0" t="0"/>
          <a:stretch/>
        </p:blipFill>
        <p:spPr>
          <a:xfrm>
            <a:off x="0" y="0"/>
            <a:ext cx="9144001" cy="6096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0"/>
          <p:cNvPicPr preferRelativeResize="0"/>
          <p:nvPr/>
        </p:nvPicPr>
        <p:blipFill rotWithShape="1">
          <a:blip r:embed="rId3">
            <a:alphaModFix/>
          </a:blip>
          <a:srcRect b="0" l="0" r="0" t="0"/>
          <a:stretch/>
        </p:blipFill>
        <p:spPr>
          <a:xfrm>
            <a:off x="202446" y="1418584"/>
            <a:ext cx="3015600" cy="3015625"/>
          </a:xfrm>
          <a:prstGeom prst="rect">
            <a:avLst/>
          </a:prstGeom>
          <a:noFill/>
          <a:ln>
            <a:noFill/>
          </a:ln>
        </p:spPr>
      </p:pic>
      <p:pic>
        <p:nvPicPr>
          <p:cNvPr id="117" name="Google Shape;117;p20"/>
          <p:cNvPicPr preferRelativeResize="0"/>
          <p:nvPr/>
        </p:nvPicPr>
        <p:blipFill rotWithShape="1">
          <a:blip r:embed="rId4">
            <a:alphaModFix/>
          </a:blip>
          <a:srcRect b="0" l="0" r="0" t="0"/>
          <a:stretch/>
        </p:blipFill>
        <p:spPr>
          <a:xfrm>
            <a:off x="3461471" y="1559967"/>
            <a:ext cx="5621154" cy="28035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descr="E:\Arif\Summer2020\CSE461\Lectures\intro pics\Robotics and Embedded Systems-29.jpg" id="122" name="Google Shape;122;p21"/>
          <p:cNvPicPr preferRelativeResize="0"/>
          <p:nvPr/>
        </p:nvPicPr>
        <p:blipFill rotWithShape="1">
          <a:blip r:embed="rId3">
            <a:alphaModFix/>
          </a:blip>
          <a:srcRect b="16036" l="0" r="0" t="0"/>
          <a:stretch/>
        </p:blipFill>
        <p:spPr>
          <a:xfrm>
            <a:off x="0" y="0"/>
            <a:ext cx="9144000" cy="575800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0907"/>
              <a:buNone/>
            </a:pPr>
            <a:r>
              <a:rPr lang="en-US"/>
              <a:t>End Effector</a:t>
            </a:r>
            <a:endParaRPr/>
          </a:p>
        </p:txBody>
      </p:sp>
      <p:pic>
        <p:nvPicPr>
          <p:cNvPr descr="Image result for end effector" id="128" name="Google Shape;128;p22"/>
          <p:cNvPicPr preferRelativeResize="0"/>
          <p:nvPr/>
        </p:nvPicPr>
        <p:blipFill rotWithShape="1">
          <a:blip r:embed="rId3">
            <a:alphaModFix/>
          </a:blip>
          <a:srcRect b="0" l="0" r="0" t="0"/>
          <a:stretch/>
        </p:blipFill>
        <p:spPr>
          <a:xfrm>
            <a:off x="653527" y="2011773"/>
            <a:ext cx="7739849" cy="3086850"/>
          </a:xfrm>
          <a:prstGeom prst="rect">
            <a:avLst/>
          </a:prstGeom>
          <a:noFill/>
          <a:ln>
            <a:noFill/>
          </a:ln>
        </p:spPr>
      </p:pic>
      <p:sp>
        <p:nvSpPr>
          <p:cNvPr id="129" name="Google Shape;129;p22"/>
          <p:cNvSpPr/>
          <p:nvPr/>
        </p:nvSpPr>
        <p:spPr>
          <a:xfrm>
            <a:off x="271603" y="5702356"/>
            <a:ext cx="8510400" cy="3387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111111"/>
                </a:solidFill>
                <a:latin typeface="Roboto"/>
                <a:ea typeface="Roboto"/>
                <a:cs typeface="Roboto"/>
                <a:sym typeface="Roboto"/>
              </a:rPr>
              <a:t>Two types of fingered end-effectors: (a) gripper type, (b) anthropomorphic type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descr="E:\Arif\Summer2020\CSE461\Lectures\intro pics\Robotics and Embedded Systems-31.jpg" id="134" name="Google Shape;134;p23"/>
          <p:cNvPicPr preferRelativeResize="0"/>
          <p:nvPr/>
        </p:nvPicPr>
        <p:blipFill rotWithShape="1">
          <a:blip r:embed="rId3">
            <a:alphaModFix/>
          </a:blip>
          <a:srcRect b="19736" l="0" r="0" t="0"/>
          <a:stretch/>
        </p:blipFill>
        <p:spPr>
          <a:xfrm>
            <a:off x="0" y="0"/>
            <a:ext cx="9144000" cy="550450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E:\Arif\Summer2020\CSE461\Lectures\intro pics\Robotics and Embedded Systems-32.jpg" id="139" name="Google Shape;139;p24"/>
          <p:cNvPicPr preferRelativeResize="0"/>
          <p:nvPr/>
        </p:nvPicPr>
        <p:blipFill rotWithShape="1">
          <a:blip r:embed="rId3">
            <a:alphaModFix/>
          </a:blip>
          <a:srcRect b="23698" l="0" r="0" t="0"/>
          <a:stretch/>
        </p:blipFill>
        <p:spPr>
          <a:xfrm>
            <a:off x="0" y="0"/>
            <a:ext cx="9144000" cy="52329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25"/>
          <p:cNvGraphicFramePr/>
          <p:nvPr/>
        </p:nvGraphicFramePr>
        <p:xfrm>
          <a:off x="279650" y="356875"/>
          <a:ext cx="3000000" cy="3000000"/>
        </p:xfrm>
        <a:graphic>
          <a:graphicData uri="http://schemas.openxmlformats.org/drawingml/2006/table">
            <a:tbl>
              <a:tblPr>
                <a:noFill/>
                <a:tableStyleId>{96BF6F0A-18F7-44F4-A4D5-543CD36E3EF8}</a:tableStyleId>
              </a:tblPr>
              <a:tblGrid>
                <a:gridCol w="1520775"/>
                <a:gridCol w="3394200"/>
                <a:gridCol w="3669700"/>
              </a:tblGrid>
              <a:tr h="346250">
                <a:tc>
                  <a:txBody>
                    <a:bodyPr/>
                    <a:lstStyle/>
                    <a:p>
                      <a:pPr indent="0" lvl="0" marL="0" rtl="0" algn="ctr">
                        <a:spcBef>
                          <a:spcPts val="0"/>
                        </a:spcBef>
                        <a:spcAft>
                          <a:spcPts val="0"/>
                        </a:spcAft>
                        <a:buNone/>
                      </a:pPr>
                      <a:r>
                        <a:rPr b="1" lang="en-US" sz="1300"/>
                        <a:t>Categories</a:t>
                      </a:r>
                      <a:endParaRPr b="1" sz="1300"/>
                    </a:p>
                  </a:txBody>
                  <a:tcPr marT="63500" marB="63500" marR="63500" marL="63500"/>
                </a:tc>
                <a:tc>
                  <a:txBody>
                    <a:bodyPr/>
                    <a:lstStyle/>
                    <a:p>
                      <a:pPr indent="0" lvl="0" marL="0" rtl="0" algn="ctr">
                        <a:spcBef>
                          <a:spcPts val="0"/>
                        </a:spcBef>
                        <a:spcAft>
                          <a:spcPts val="0"/>
                        </a:spcAft>
                        <a:buNone/>
                      </a:pPr>
                      <a:r>
                        <a:rPr b="1" lang="en-US" sz="1300"/>
                        <a:t>Synchronous  Belt</a:t>
                      </a:r>
                      <a:endParaRPr b="1" sz="1300"/>
                    </a:p>
                  </a:txBody>
                  <a:tcPr marT="63500" marB="63500" marR="63500" marL="63500"/>
                </a:tc>
                <a:tc>
                  <a:txBody>
                    <a:bodyPr/>
                    <a:lstStyle/>
                    <a:p>
                      <a:pPr indent="0" lvl="0" marL="0" rtl="0" algn="ctr">
                        <a:spcBef>
                          <a:spcPts val="0"/>
                        </a:spcBef>
                        <a:spcAft>
                          <a:spcPts val="0"/>
                        </a:spcAft>
                        <a:buNone/>
                      </a:pPr>
                      <a:r>
                        <a:rPr b="1" lang="en-US" sz="1300"/>
                        <a:t>Roller Chain</a:t>
                      </a:r>
                      <a:endParaRPr b="1" sz="1300"/>
                    </a:p>
                  </a:txBody>
                  <a:tcPr marT="63500" marB="63500" marR="63500" marL="63500"/>
                </a:tc>
              </a:tr>
              <a:tr h="545175">
                <a:tc>
                  <a:txBody>
                    <a:bodyPr/>
                    <a:lstStyle/>
                    <a:p>
                      <a:pPr indent="0" lvl="0" marL="0" rtl="0" algn="just">
                        <a:spcBef>
                          <a:spcPts val="0"/>
                        </a:spcBef>
                        <a:spcAft>
                          <a:spcPts val="0"/>
                        </a:spcAft>
                        <a:buNone/>
                      </a:pPr>
                      <a:r>
                        <a:rPr lang="en-US" sz="1200"/>
                        <a:t>Efficiency</a:t>
                      </a:r>
                      <a:endParaRPr sz="1200"/>
                    </a:p>
                  </a:txBody>
                  <a:tcPr marT="63500" marB="63500" marR="63500" marL="63500"/>
                </a:tc>
                <a:tc>
                  <a:txBody>
                    <a:bodyPr/>
                    <a:lstStyle/>
                    <a:p>
                      <a:pPr indent="0" lvl="0" marL="0" rtl="0" algn="just">
                        <a:spcBef>
                          <a:spcPts val="0"/>
                        </a:spcBef>
                        <a:spcAft>
                          <a:spcPts val="0"/>
                        </a:spcAft>
                        <a:buNone/>
                      </a:pPr>
                      <a:r>
                        <a:rPr lang="en-US" sz="1200"/>
                        <a:t>Generally more efficient, with lower friction losses</a:t>
                      </a:r>
                      <a:endParaRPr sz="1200"/>
                    </a:p>
                  </a:txBody>
                  <a:tcPr marT="63500" marB="63500" marR="63500" marL="63500"/>
                </a:tc>
                <a:tc>
                  <a:txBody>
                    <a:bodyPr/>
                    <a:lstStyle/>
                    <a:p>
                      <a:pPr indent="0" lvl="0" marL="0" rtl="0" algn="just">
                        <a:spcBef>
                          <a:spcPts val="0"/>
                        </a:spcBef>
                        <a:spcAft>
                          <a:spcPts val="0"/>
                        </a:spcAft>
                        <a:buNone/>
                      </a:pPr>
                      <a:r>
                        <a:rPr lang="en-US" sz="1200"/>
                        <a:t>Less efficient due to higher friction and potential for more energy loss.</a:t>
                      </a:r>
                      <a:endParaRPr sz="1200"/>
                    </a:p>
                  </a:txBody>
                  <a:tcPr marT="63500" marB="63500" marR="63500" marL="63500"/>
                </a:tc>
              </a:tr>
              <a:tr h="346250">
                <a:tc>
                  <a:txBody>
                    <a:bodyPr/>
                    <a:lstStyle/>
                    <a:p>
                      <a:pPr indent="0" lvl="0" marL="0" rtl="0" algn="just">
                        <a:spcBef>
                          <a:spcPts val="0"/>
                        </a:spcBef>
                        <a:spcAft>
                          <a:spcPts val="0"/>
                        </a:spcAft>
                        <a:buNone/>
                      </a:pPr>
                      <a:r>
                        <a:rPr lang="en-US" sz="1200"/>
                        <a:t>Noise</a:t>
                      </a:r>
                      <a:endParaRPr sz="1200"/>
                    </a:p>
                  </a:txBody>
                  <a:tcPr marT="63500" marB="63500" marR="63500" marL="63500"/>
                </a:tc>
                <a:tc>
                  <a:txBody>
                    <a:bodyPr/>
                    <a:lstStyle/>
                    <a:p>
                      <a:pPr indent="0" lvl="0" marL="0" rtl="0" algn="just">
                        <a:spcBef>
                          <a:spcPts val="0"/>
                        </a:spcBef>
                        <a:spcAft>
                          <a:spcPts val="0"/>
                        </a:spcAft>
                        <a:buNone/>
                      </a:pPr>
                      <a:r>
                        <a:rPr lang="en-US" sz="1200"/>
                        <a:t>Quieter operation.</a:t>
                      </a:r>
                      <a:endParaRPr sz="1200"/>
                    </a:p>
                  </a:txBody>
                  <a:tcPr marT="63500" marB="63500" marR="63500" marL="63500"/>
                </a:tc>
                <a:tc>
                  <a:txBody>
                    <a:bodyPr/>
                    <a:lstStyle/>
                    <a:p>
                      <a:pPr indent="0" lvl="0" marL="0" rtl="0" algn="just">
                        <a:spcBef>
                          <a:spcPts val="0"/>
                        </a:spcBef>
                        <a:spcAft>
                          <a:spcPts val="0"/>
                        </a:spcAft>
                        <a:buNone/>
                      </a:pPr>
                      <a:r>
                        <a:rPr lang="en-US" sz="1200"/>
                        <a:t>Noisier due to metal-on-metal contact.</a:t>
                      </a:r>
                      <a:endParaRPr sz="1200"/>
                    </a:p>
                  </a:txBody>
                  <a:tcPr marT="63500" marB="63500" marR="63500" marL="63500"/>
                </a:tc>
              </a:tr>
              <a:tr h="744100">
                <a:tc>
                  <a:txBody>
                    <a:bodyPr/>
                    <a:lstStyle/>
                    <a:p>
                      <a:pPr indent="0" lvl="0" marL="0" rtl="0" algn="just">
                        <a:spcBef>
                          <a:spcPts val="0"/>
                        </a:spcBef>
                        <a:spcAft>
                          <a:spcPts val="0"/>
                        </a:spcAft>
                        <a:buNone/>
                      </a:pPr>
                      <a:r>
                        <a:rPr lang="en-US" sz="1200"/>
                        <a:t>Maintenance</a:t>
                      </a:r>
                      <a:endParaRPr sz="1200"/>
                    </a:p>
                  </a:txBody>
                  <a:tcPr marT="63500" marB="63500" marR="63500" marL="63500"/>
                </a:tc>
                <a:tc>
                  <a:txBody>
                    <a:bodyPr/>
                    <a:lstStyle/>
                    <a:p>
                      <a:pPr indent="0" lvl="0" marL="0" rtl="0" algn="just">
                        <a:spcBef>
                          <a:spcPts val="0"/>
                        </a:spcBef>
                        <a:spcAft>
                          <a:spcPts val="0"/>
                        </a:spcAft>
                        <a:buNone/>
                      </a:pPr>
                      <a:r>
                        <a:rPr lang="en-US" sz="1200"/>
                        <a:t>Requires less maintenance, but belts can wear out and need replacement.</a:t>
                      </a:r>
                      <a:endParaRPr sz="1200"/>
                    </a:p>
                  </a:txBody>
                  <a:tcPr marT="63500" marB="63500" marR="63500" marL="63500"/>
                </a:tc>
                <a:tc>
                  <a:txBody>
                    <a:bodyPr/>
                    <a:lstStyle/>
                    <a:p>
                      <a:pPr indent="0" lvl="0" marL="0" rtl="0" algn="just">
                        <a:spcBef>
                          <a:spcPts val="0"/>
                        </a:spcBef>
                        <a:spcAft>
                          <a:spcPts val="0"/>
                        </a:spcAft>
                        <a:buNone/>
                      </a:pPr>
                      <a:r>
                        <a:rPr lang="en-US" sz="1200"/>
                        <a:t>Requires regular lubrication and tension adjustment; chains are more durable but can rust and need more frequent maintenance.</a:t>
                      </a:r>
                      <a:endParaRPr sz="1200"/>
                    </a:p>
                  </a:txBody>
                  <a:tcPr marT="63500" marB="63500" marR="63500" marL="63500"/>
                </a:tc>
              </a:tr>
              <a:tr h="545175">
                <a:tc>
                  <a:txBody>
                    <a:bodyPr/>
                    <a:lstStyle/>
                    <a:p>
                      <a:pPr indent="0" lvl="0" marL="0" rtl="0" algn="just">
                        <a:spcBef>
                          <a:spcPts val="0"/>
                        </a:spcBef>
                        <a:spcAft>
                          <a:spcPts val="0"/>
                        </a:spcAft>
                        <a:buNone/>
                      </a:pPr>
                      <a:r>
                        <a:rPr lang="en-US" sz="1200"/>
                        <a:t>Durability</a:t>
                      </a:r>
                      <a:endParaRPr sz="1200"/>
                    </a:p>
                  </a:txBody>
                  <a:tcPr marT="63500" marB="63500" marR="63500" marL="63500"/>
                </a:tc>
                <a:tc>
                  <a:txBody>
                    <a:bodyPr/>
                    <a:lstStyle/>
                    <a:p>
                      <a:pPr indent="0" lvl="0" marL="0" rtl="0" algn="just">
                        <a:spcBef>
                          <a:spcPts val="0"/>
                        </a:spcBef>
                        <a:spcAft>
                          <a:spcPts val="0"/>
                        </a:spcAft>
                        <a:buNone/>
                      </a:pPr>
                      <a:r>
                        <a:rPr lang="en-US" sz="1200"/>
                        <a:t>More susceptible to stretching and breaking under high loads.</a:t>
                      </a:r>
                      <a:endParaRPr sz="1200"/>
                    </a:p>
                  </a:txBody>
                  <a:tcPr marT="63500" marB="63500" marR="63500" marL="63500"/>
                </a:tc>
                <a:tc>
                  <a:txBody>
                    <a:bodyPr/>
                    <a:lstStyle/>
                    <a:p>
                      <a:pPr indent="0" lvl="0" marL="0" rtl="0" algn="just">
                        <a:spcBef>
                          <a:spcPts val="0"/>
                        </a:spcBef>
                        <a:spcAft>
                          <a:spcPts val="0"/>
                        </a:spcAft>
                        <a:buNone/>
                      </a:pPr>
                      <a:r>
                        <a:rPr lang="en-US" sz="1200"/>
                        <a:t>Better suited for high-load and high-torque applications due to its strength.</a:t>
                      </a:r>
                      <a:endParaRPr sz="1200"/>
                    </a:p>
                  </a:txBody>
                  <a:tcPr marT="63500" marB="63500" marR="63500" marL="63500"/>
                </a:tc>
              </a:tr>
              <a:tr h="545175">
                <a:tc>
                  <a:txBody>
                    <a:bodyPr/>
                    <a:lstStyle/>
                    <a:p>
                      <a:pPr indent="0" lvl="0" marL="0" rtl="0" algn="just">
                        <a:spcBef>
                          <a:spcPts val="0"/>
                        </a:spcBef>
                        <a:spcAft>
                          <a:spcPts val="0"/>
                        </a:spcAft>
                        <a:buNone/>
                      </a:pPr>
                      <a:r>
                        <a:rPr lang="en-US" sz="1200"/>
                        <a:t>Precision</a:t>
                      </a:r>
                      <a:endParaRPr sz="1200"/>
                    </a:p>
                  </a:txBody>
                  <a:tcPr marT="63500" marB="63500" marR="63500" marL="63500"/>
                </a:tc>
                <a:tc>
                  <a:txBody>
                    <a:bodyPr/>
                    <a:lstStyle/>
                    <a:p>
                      <a:pPr indent="0" lvl="0" marL="0" rtl="0" algn="just">
                        <a:spcBef>
                          <a:spcPts val="0"/>
                        </a:spcBef>
                        <a:spcAft>
                          <a:spcPts val="0"/>
                        </a:spcAft>
                        <a:buNone/>
                      </a:pPr>
                      <a:r>
                        <a:rPr lang="en-US" sz="1200"/>
                        <a:t>Less precise due to potential for slippage</a:t>
                      </a:r>
                      <a:endParaRPr sz="1200"/>
                    </a:p>
                  </a:txBody>
                  <a:tcPr marT="63500" marB="63500" marR="63500" marL="63500"/>
                </a:tc>
                <a:tc>
                  <a:txBody>
                    <a:bodyPr/>
                    <a:lstStyle/>
                    <a:p>
                      <a:pPr indent="0" lvl="0" marL="0" rtl="0" algn="just">
                        <a:spcBef>
                          <a:spcPts val="0"/>
                        </a:spcBef>
                        <a:spcAft>
                          <a:spcPts val="0"/>
                        </a:spcAft>
                        <a:buNone/>
                      </a:pPr>
                      <a:r>
                        <a:rPr lang="en-US" sz="1200"/>
                        <a:t>More precise with minimal slippage, providing consistent motion</a:t>
                      </a:r>
                      <a:endParaRPr sz="1200"/>
                    </a:p>
                  </a:txBody>
                  <a:tcPr marT="63500" marB="63500" marR="63500" marL="63500"/>
                </a:tc>
              </a:tr>
              <a:tr h="545175">
                <a:tc>
                  <a:txBody>
                    <a:bodyPr/>
                    <a:lstStyle/>
                    <a:p>
                      <a:pPr indent="0" lvl="0" marL="0" rtl="0" algn="just">
                        <a:spcBef>
                          <a:spcPts val="0"/>
                        </a:spcBef>
                        <a:spcAft>
                          <a:spcPts val="0"/>
                        </a:spcAft>
                        <a:buNone/>
                      </a:pPr>
                      <a:r>
                        <a:rPr lang="en-US" sz="1200"/>
                        <a:t>Cost</a:t>
                      </a:r>
                      <a:endParaRPr sz="1200"/>
                    </a:p>
                  </a:txBody>
                  <a:tcPr marT="63500" marB="63500" marR="63500" marL="63500"/>
                </a:tc>
                <a:tc>
                  <a:txBody>
                    <a:bodyPr/>
                    <a:lstStyle/>
                    <a:p>
                      <a:pPr indent="0" lvl="0" marL="0" rtl="0" algn="just">
                        <a:spcBef>
                          <a:spcPts val="0"/>
                        </a:spcBef>
                        <a:spcAft>
                          <a:spcPts val="0"/>
                        </a:spcAft>
                        <a:buNone/>
                      </a:pPr>
                      <a:r>
                        <a:rPr lang="en-US" sz="1200"/>
                        <a:t>Typically cheaper to produce and replace</a:t>
                      </a:r>
                      <a:endParaRPr sz="1200"/>
                    </a:p>
                  </a:txBody>
                  <a:tcPr marT="63500" marB="63500" marR="63500" marL="63500"/>
                </a:tc>
                <a:tc>
                  <a:txBody>
                    <a:bodyPr/>
                    <a:lstStyle/>
                    <a:p>
                      <a:pPr indent="0" lvl="0" marL="0" rtl="0" algn="just">
                        <a:spcBef>
                          <a:spcPts val="0"/>
                        </a:spcBef>
                        <a:spcAft>
                          <a:spcPts val="0"/>
                        </a:spcAft>
                        <a:buNone/>
                      </a:pPr>
                      <a:r>
                        <a:rPr lang="en-US" sz="1200"/>
                        <a:t>More expensive initially and over time due to maintenance needs</a:t>
                      </a:r>
                      <a:endParaRPr sz="1200"/>
                    </a:p>
                  </a:txBody>
                  <a:tcPr marT="63500" marB="63500" marR="63500" marL="63500"/>
                </a:tc>
              </a:tr>
              <a:tr h="545175">
                <a:tc>
                  <a:txBody>
                    <a:bodyPr/>
                    <a:lstStyle/>
                    <a:p>
                      <a:pPr indent="0" lvl="0" marL="0" rtl="0" algn="just">
                        <a:spcBef>
                          <a:spcPts val="0"/>
                        </a:spcBef>
                        <a:spcAft>
                          <a:spcPts val="0"/>
                        </a:spcAft>
                        <a:buNone/>
                      </a:pPr>
                      <a:r>
                        <a:rPr lang="en-US" sz="1200"/>
                        <a:t>Flexibility</a:t>
                      </a:r>
                      <a:endParaRPr sz="1200"/>
                    </a:p>
                  </a:txBody>
                  <a:tcPr marT="63500" marB="63500" marR="63500" marL="63500"/>
                </a:tc>
                <a:tc>
                  <a:txBody>
                    <a:bodyPr/>
                    <a:lstStyle/>
                    <a:p>
                      <a:pPr indent="0" lvl="0" marL="0" rtl="0" algn="just">
                        <a:spcBef>
                          <a:spcPts val="0"/>
                        </a:spcBef>
                        <a:spcAft>
                          <a:spcPts val="0"/>
                        </a:spcAft>
                        <a:buNone/>
                      </a:pPr>
                      <a:r>
                        <a:rPr lang="en-US" sz="1200"/>
                        <a:t>More flexible, can handle more complex routing</a:t>
                      </a:r>
                      <a:endParaRPr sz="1200"/>
                    </a:p>
                  </a:txBody>
                  <a:tcPr marT="63500" marB="63500" marR="63500" marL="63500"/>
                </a:tc>
                <a:tc>
                  <a:txBody>
                    <a:bodyPr/>
                    <a:lstStyle/>
                    <a:p>
                      <a:pPr indent="0" lvl="0" marL="0" rtl="0" algn="just">
                        <a:spcBef>
                          <a:spcPts val="0"/>
                        </a:spcBef>
                        <a:spcAft>
                          <a:spcPts val="0"/>
                        </a:spcAft>
                        <a:buNone/>
                      </a:pPr>
                      <a:r>
                        <a:rPr lang="en-US" sz="1200"/>
                        <a:t>Less flexible, limited to simpler routing paths</a:t>
                      </a:r>
                      <a:endParaRPr sz="1200"/>
                    </a:p>
                  </a:txBody>
                  <a:tcPr marT="63500" marB="63500" marR="63500" marL="63500"/>
                </a:tc>
              </a:tr>
              <a:tr h="346250">
                <a:tc>
                  <a:txBody>
                    <a:bodyPr/>
                    <a:lstStyle/>
                    <a:p>
                      <a:pPr indent="0" lvl="0" marL="0" rtl="0" algn="just">
                        <a:spcBef>
                          <a:spcPts val="0"/>
                        </a:spcBef>
                        <a:spcAft>
                          <a:spcPts val="0"/>
                        </a:spcAft>
                        <a:buNone/>
                      </a:pPr>
                      <a:r>
                        <a:rPr lang="en-US" sz="1200"/>
                        <a:t>Speed Range</a:t>
                      </a:r>
                      <a:endParaRPr sz="1200"/>
                    </a:p>
                  </a:txBody>
                  <a:tcPr marT="63500" marB="63500" marR="63500" marL="63500"/>
                </a:tc>
                <a:tc>
                  <a:txBody>
                    <a:bodyPr/>
                    <a:lstStyle/>
                    <a:p>
                      <a:pPr indent="0" lvl="0" marL="0" rtl="0" algn="just">
                        <a:spcBef>
                          <a:spcPts val="0"/>
                        </a:spcBef>
                        <a:spcAft>
                          <a:spcPts val="0"/>
                        </a:spcAft>
                        <a:buNone/>
                      </a:pPr>
                      <a:r>
                        <a:rPr lang="en-US" sz="1200"/>
                        <a:t>Better for high-speed applications</a:t>
                      </a:r>
                      <a:endParaRPr sz="1200"/>
                    </a:p>
                  </a:txBody>
                  <a:tcPr marT="63500" marB="63500" marR="63500" marL="63500"/>
                </a:tc>
                <a:tc>
                  <a:txBody>
                    <a:bodyPr/>
                    <a:lstStyle/>
                    <a:p>
                      <a:pPr indent="0" lvl="0" marL="0" rtl="0" algn="just">
                        <a:spcBef>
                          <a:spcPts val="0"/>
                        </a:spcBef>
                        <a:spcAft>
                          <a:spcPts val="0"/>
                        </a:spcAft>
                        <a:buNone/>
                      </a:pPr>
                      <a:r>
                        <a:rPr lang="en-US" sz="1200"/>
                        <a:t>Better for lower speed, high-torque applications</a:t>
                      </a:r>
                      <a:endParaRPr sz="1200"/>
                    </a:p>
                  </a:txBody>
                  <a:tcPr marT="63500" marB="63500" marR="63500" marL="63500"/>
                </a:tc>
              </a:tr>
              <a:tr h="346250">
                <a:tc>
                  <a:txBody>
                    <a:bodyPr/>
                    <a:lstStyle/>
                    <a:p>
                      <a:pPr indent="0" lvl="0" marL="0" rtl="0" algn="just">
                        <a:spcBef>
                          <a:spcPts val="0"/>
                        </a:spcBef>
                        <a:spcAft>
                          <a:spcPts val="0"/>
                        </a:spcAft>
                        <a:buNone/>
                      </a:pPr>
                      <a:r>
                        <a:rPr lang="en-US" sz="1200"/>
                        <a:t>Weight</a:t>
                      </a:r>
                      <a:endParaRPr sz="1200"/>
                    </a:p>
                  </a:txBody>
                  <a:tcPr marT="63500" marB="63500" marR="63500" marL="63500"/>
                </a:tc>
                <a:tc>
                  <a:txBody>
                    <a:bodyPr/>
                    <a:lstStyle/>
                    <a:p>
                      <a:pPr indent="0" lvl="0" marL="0" rtl="0" algn="just">
                        <a:spcBef>
                          <a:spcPts val="0"/>
                        </a:spcBef>
                        <a:spcAft>
                          <a:spcPts val="0"/>
                        </a:spcAft>
                        <a:buNone/>
                      </a:pPr>
                      <a:r>
                        <a:rPr lang="en-US" sz="1200"/>
                        <a:t>Lighter weight</a:t>
                      </a:r>
                      <a:endParaRPr sz="1200"/>
                    </a:p>
                  </a:txBody>
                  <a:tcPr marT="63500" marB="63500" marR="63500" marL="63500"/>
                </a:tc>
                <a:tc>
                  <a:txBody>
                    <a:bodyPr/>
                    <a:lstStyle/>
                    <a:p>
                      <a:pPr indent="0" lvl="0" marL="0" rtl="0" algn="just">
                        <a:spcBef>
                          <a:spcPts val="0"/>
                        </a:spcBef>
                        <a:spcAft>
                          <a:spcPts val="0"/>
                        </a:spcAft>
                        <a:buNone/>
                      </a:pPr>
                      <a:r>
                        <a:rPr lang="en-US" sz="1200"/>
                        <a:t>Heavier due to metal construction</a:t>
                      </a:r>
                      <a:endParaRPr sz="1200"/>
                    </a:p>
                  </a:txBody>
                  <a:tcPr marT="63500" marB="63500" marR="63500" marL="63500"/>
                </a:tc>
              </a:tr>
              <a:tr h="744100">
                <a:tc>
                  <a:txBody>
                    <a:bodyPr/>
                    <a:lstStyle/>
                    <a:p>
                      <a:pPr indent="0" lvl="0" marL="0" rtl="0" algn="just">
                        <a:spcBef>
                          <a:spcPts val="0"/>
                        </a:spcBef>
                        <a:spcAft>
                          <a:spcPts val="0"/>
                        </a:spcAft>
                        <a:buNone/>
                      </a:pPr>
                      <a:r>
                        <a:rPr lang="en-US" sz="1200"/>
                        <a:t>Environmental Resistance</a:t>
                      </a:r>
                      <a:endParaRPr sz="1200"/>
                    </a:p>
                  </a:txBody>
                  <a:tcPr marT="63500" marB="63500" marR="63500" marL="63500"/>
                </a:tc>
                <a:tc>
                  <a:txBody>
                    <a:bodyPr/>
                    <a:lstStyle/>
                    <a:p>
                      <a:pPr indent="0" lvl="0" marL="0" rtl="0" algn="just">
                        <a:spcBef>
                          <a:spcPts val="0"/>
                        </a:spcBef>
                        <a:spcAft>
                          <a:spcPts val="0"/>
                        </a:spcAft>
                        <a:buNone/>
                      </a:pPr>
                      <a:r>
                        <a:rPr lang="en-US" sz="1200"/>
                        <a:t>More susceptible to temperature changes and can degrade with exposure to certain chemicals</a:t>
                      </a:r>
                      <a:endParaRPr sz="1200"/>
                    </a:p>
                  </a:txBody>
                  <a:tcPr marT="63500" marB="63500" marR="63500" marL="63500"/>
                </a:tc>
                <a:tc>
                  <a:txBody>
                    <a:bodyPr/>
                    <a:lstStyle/>
                    <a:p>
                      <a:pPr indent="0" lvl="0" marL="0" rtl="0" algn="just">
                        <a:spcBef>
                          <a:spcPts val="0"/>
                        </a:spcBef>
                        <a:spcAft>
                          <a:spcPts val="0"/>
                        </a:spcAft>
                        <a:buNone/>
                      </a:pPr>
                      <a:r>
                        <a:rPr lang="en-US" sz="1200"/>
                        <a:t>More robust in harsh environments, better resistance to temperature extremes and chemicals</a:t>
                      </a:r>
                      <a:endParaRPr sz="1200"/>
                    </a:p>
                  </a:txBody>
                  <a:tcPr marT="63500" marB="63500" marR="63500" marL="63500"/>
                </a:tc>
              </a:tr>
              <a:tr h="545175">
                <a:tc>
                  <a:txBody>
                    <a:bodyPr/>
                    <a:lstStyle/>
                    <a:p>
                      <a:pPr indent="0" lvl="0" marL="0" rtl="0" algn="just">
                        <a:spcBef>
                          <a:spcPts val="0"/>
                        </a:spcBef>
                        <a:spcAft>
                          <a:spcPts val="0"/>
                        </a:spcAft>
                        <a:buNone/>
                      </a:pPr>
                      <a:r>
                        <a:rPr lang="en-US" sz="1200"/>
                        <a:t>Elasticity</a:t>
                      </a:r>
                      <a:endParaRPr sz="1200"/>
                    </a:p>
                  </a:txBody>
                  <a:tcPr marT="63500" marB="63500" marR="63500" marL="63500"/>
                </a:tc>
                <a:tc>
                  <a:txBody>
                    <a:bodyPr/>
                    <a:lstStyle/>
                    <a:p>
                      <a:pPr indent="0" lvl="0" marL="0" rtl="0" algn="just">
                        <a:spcBef>
                          <a:spcPts val="0"/>
                        </a:spcBef>
                        <a:spcAft>
                          <a:spcPts val="0"/>
                        </a:spcAft>
                        <a:buNone/>
                      </a:pPr>
                      <a:r>
                        <a:rPr lang="en-US" sz="1200"/>
                        <a:t>Elastic, which can dampen vibrations but may cause delay in response</a:t>
                      </a:r>
                      <a:endParaRPr sz="1200"/>
                    </a:p>
                  </a:txBody>
                  <a:tcPr marT="63500" marB="63500" marR="63500" marL="63500"/>
                </a:tc>
                <a:tc>
                  <a:txBody>
                    <a:bodyPr/>
                    <a:lstStyle/>
                    <a:p>
                      <a:pPr indent="0" lvl="0" marL="0" rtl="0" algn="just">
                        <a:spcBef>
                          <a:spcPts val="0"/>
                        </a:spcBef>
                        <a:spcAft>
                          <a:spcPts val="0"/>
                        </a:spcAft>
                        <a:buNone/>
                      </a:pPr>
                      <a:r>
                        <a:rPr lang="en-US" sz="1200"/>
                        <a:t>Inelastic, providing more immediate response to changes in load</a:t>
                      </a:r>
                      <a:endParaRPr sz="1200"/>
                    </a:p>
                  </a:txBody>
                  <a:tcPr marT="63500" marB="63500" marR="63500" marL="63500"/>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E:\Arif\Summer2020\CSE461\Lectures\intro pics\Robotics and Embedded Systems-33.jpg" id="149" name="Google Shape;149;p26"/>
          <p:cNvPicPr preferRelativeResize="0"/>
          <p:nvPr/>
        </p:nvPicPr>
        <p:blipFill rotWithShape="1">
          <a:blip r:embed="rId3">
            <a:alphaModFix/>
          </a:blip>
          <a:srcRect b="12470" l="0" r="0" t="0"/>
          <a:stretch/>
        </p:blipFill>
        <p:spPr>
          <a:xfrm>
            <a:off x="0" y="1"/>
            <a:ext cx="9144000" cy="60024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grpSp>
        <p:nvGrpSpPr>
          <p:cNvPr id="154" name="Google Shape;154;p27"/>
          <p:cNvGrpSpPr/>
          <p:nvPr/>
        </p:nvGrpSpPr>
        <p:grpSpPr>
          <a:xfrm>
            <a:off x="5144985" y="706916"/>
            <a:ext cx="4093343" cy="5444156"/>
            <a:chOff x="5570025" y="940975"/>
            <a:chExt cx="3452550" cy="4591899"/>
          </a:xfrm>
        </p:grpSpPr>
        <p:pic>
          <p:nvPicPr>
            <p:cNvPr id="155" name="Google Shape;155;p27"/>
            <p:cNvPicPr preferRelativeResize="0"/>
            <p:nvPr/>
          </p:nvPicPr>
          <p:blipFill rotWithShape="1">
            <a:blip r:embed="rId3">
              <a:alphaModFix/>
            </a:blip>
            <a:srcRect b="66566" l="0" r="33426" t="10961"/>
            <a:stretch/>
          </p:blipFill>
          <p:spPr>
            <a:xfrm>
              <a:off x="5570025" y="940975"/>
              <a:ext cx="2988425" cy="1261700"/>
            </a:xfrm>
            <a:prstGeom prst="rect">
              <a:avLst/>
            </a:prstGeom>
            <a:noFill/>
            <a:ln>
              <a:noFill/>
            </a:ln>
          </p:spPr>
        </p:pic>
        <p:pic>
          <p:nvPicPr>
            <p:cNvPr id="156" name="Google Shape;156;p27"/>
            <p:cNvPicPr preferRelativeResize="0"/>
            <p:nvPr/>
          </p:nvPicPr>
          <p:blipFill rotWithShape="1">
            <a:blip r:embed="rId3">
              <a:alphaModFix/>
            </a:blip>
            <a:srcRect b="44746" l="65702" r="0" t="32782"/>
            <a:stretch/>
          </p:blipFill>
          <p:spPr>
            <a:xfrm>
              <a:off x="7303850" y="2527225"/>
              <a:ext cx="1539575" cy="1261700"/>
            </a:xfrm>
            <a:prstGeom prst="rect">
              <a:avLst/>
            </a:prstGeom>
            <a:noFill/>
            <a:ln>
              <a:noFill/>
            </a:ln>
          </p:spPr>
        </p:pic>
        <p:pic>
          <p:nvPicPr>
            <p:cNvPr id="157" name="Google Shape;157;p27"/>
            <p:cNvPicPr preferRelativeResize="0"/>
            <p:nvPr/>
          </p:nvPicPr>
          <p:blipFill rotWithShape="1">
            <a:blip r:embed="rId3">
              <a:alphaModFix/>
            </a:blip>
            <a:srcRect b="21461" l="3757" r="65141" t="33051"/>
            <a:stretch/>
          </p:blipFill>
          <p:spPr>
            <a:xfrm>
              <a:off x="5570025" y="2375050"/>
              <a:ext cx="1726275" cy="3157824"/>
            </a:xfrm>
            <a:prstGeom prst="rect">
              <a:avLst/>
            </a:prstGeom>
            <a:noFill/>
            <a:ln>
              <a:noFill/>
            </a:ln>
          </p:spPr>
        </p:pic>
        <p:pic>
          <p:nvPicPr>
            <p:cNvPr id="158" name="Google Shape;158;p27"/>
            <p:cNvPicPr preferRelativeResize="0"/>
            <p:nvPr/>
          </p:nvPicPr>
          <p:blipFill rotWithShape="1">
            <a:blip r:embed="rId3">
              <a:alphaModFix/>
            </a:blip>
            <a:srcRect b="1423" l="3757" r="65141" t="77487"/>
            <a:stretch/>
          </p:blipFill>
          <p:spPr>
            <a:xfrm>
              <a:off x="7296300" y="3891499"/>
              <a:ext cx="1726275" cy="1464024"/>
            </a:xfrm>
            <a:prstGeom prst="rect">
              <a:avLst/>
            </a:prstGeom>
            <a:noFill/>
            <a:ln>
              <a:noFill/>
            </a:ln>
          </p:spPr>
        </p:pic>
      </p:grpSp>
      <p:sp>
        <p:nvSpPr>
          <p:cNvPr id="159" name="Google Shape;159;p27"/>
          <p:cNvSpPr txBox="1"/>
          <p:nvPr/>
        </p:nvSpPr>
        <p:spPr>
          <a:xfrm>
            <a:off x="0" y="207550"/>
            <a:ext cx="5557200" cy="634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t/>
            </a:r>
            <a:endParaRPr u="sng">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Spur Gear -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Parallel shaft gear, cylindrical, rotary motion</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Tooth straight and parallel to shaft</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High accuracy, easy production, no load, slow</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Helical Gear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Parallel shaft gear, cylindrical</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Winding tooth lines, better meshing</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Heavy lifting, high speed</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Straight Bevel -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Cone shaped</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Power transmitted at 90 degrees angle</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Spiral Bevel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Cone shaped, teeths are curved</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More efficient, strong, quiet</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Harder Production</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Worm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Screw shape cut on shaft (worm), mating gear (worm wheel)</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Can be of various shapes, power to different axis</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Low efficiency, smooth, quite, high torque</a:t>
            </a:r>
            <a:endParaRPr>
              <a:solidFill>
                <a:schemeClr val="dk1"/>
              </a:solidFill>
            </a:endParaRPr>
          </a:p>
          <a:p>
            <a:pPr indent="-317500" lvl="0" marL="457200" rtl="0" algn="l">
              <a:lnSpc>
                <a:spcPct val="115000"/>
              </a:lnSpc>
              <a:spcBef>
                <a:spcPts val="0"/>
              </a:spcBef>
              <a:spcAft>
                <a:spcPts val="0"/>
              </a:spcAft>
              <a:buClr>
                <a:schemeClr val="dk1"/>
              </a:buClr>
              <a:buSzPts val="1400"/>
              <a:buAutoNum type="arabicPeriod"/>
            </a:pPr>
            <a:r>
              <a:rPr b="1" lang="en-US">
                <a:solidFill>
                  <a:schemeClr val="dk1"/>
                </a:solidFill>
              </a:rPr>
              <a:t>Rack and Pinion -</a:t>
            </a:r>
            <a:endParaRPr b="1">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Rotational to linear motion</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High precision</a:t>
            </a:r>
            <a:endParaRPr>
              <a:solidFill>
                <a:schemeClr val="dk1"/>
              </a:solidFill>
            </a:endParaRPr>
          </a:p>
          <a:p>
            <a:pPr indent="-317500" lvl="2" marL="1371600" rtl="0" algn="l">
              <a:lnSpc>
                <a:spcPct val="115000"/>
              </a:lnSpc>
              <a:spcBef>
                <a:spcPts val="0"/>
              </a:spcBef>
              <a:spcAft>
                <a:spcPts val="0"/>
              </a:spcAft>
              <a:buClr>
                <a:schemeClr val="dk1"/>
              </a:buClr>
              <a:buSzPts val="1400"/>
              <a:buAutoNum type="romanLcPeriod"/>
            </a:pPr>
            <a:r>
              <a:rPr lang="en-US">
                <a:solidFill>
                  <a:schemeClr val="dk1"/>
                </a:solidFill>
              </a:rPr>
              <a:t>High load capacity</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3" name="Shape 163"/>
        <p:cNvGrpSpPr/>
        <p:nvPr/>
      </p:nvGrpSpPr>
      <p:grpSpPr>
        <a:xfrm>
          <a:off x="0" y="0"/>
          <a:ext cx="0" cy="0"/>
          <a:chOff x="0" y="0"/>
          <a:chExt cx="0" cy="0"/>
        </a:xfrm>
      </p:grpSpPr>
      <p:pic>
        <p:nvPicPr>
          <p:cNvPr descr="E:\Arif\Summer2020\CSE461\Lectures\intro pics\Robotics and Embedded Systems-34.jpg" id="164" name="Google Shape;164;p28"/>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E:\Arif\Summer2020\CSE461\Lectures\intro pics\Robotics and Embedded Systems-36.jpg" id="169" name="Google Shape;169;p29"/>
          <p:cNvPicPr preferRelativeResize="0"/>
          <p:nvPr/>
        </p:nvPicPr>
        <p:blipFill rotWithShape="1">
          <a:blip r:embed="rId3">
            <a:alphaModFix/>
          </a:blip>
          <a:srcRect b="0" l="0" r="0" t="0"/>
          <a:stretch/>
        </p:blipFill>
        <p:spPr>
          <a:xfrm>
            <a:off x="0" y="0"/>
            <a:ext cx="9144000" cy="6858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30"/>
          <p:cNvPicPr preferRelativeResize="0"/>
          <p:nvPr/>
        </p:nvPicPr>
        <p:blipFill rotWithShape="1">
          <a:blip r:embed="rId3">
            <a:alphaModFix/>
          </a:blip>
          <a:srcRect b="0" l="0" r="0" t="0"/>
          <a:stretch/>
        </p:blipFill>
        <p:spPr>
          <a:xfrm>
            <a:off x="854775" y="652750"/>
            <a:ext cx="7434451" cy="4181875"/>
          </a:xfrm>
          <a:prstGeom prst="rect">
            <a:avLst/>
          </a:prstGeom>
          <a:noFill/>
          <a:ln>
            <a:noFill/>
          </a:ln>
        </p:spPr>
      </p:pic>
      <p:sp>
        <p:nvSpPr>
          <p:cNvPr id="175" name="Google Shape;175;p30"/>
          <p:cNvSpPr txBox="1"/>
          <p:nvPr/>
        </p:nvSpPr>
        <p:spPr>
          <a:xfrm>
            <a:off x="677425" y="355425"/>
            <a:ext cx="22986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rPr>
              <a:t>Pneumatic</a:t>
            </a:r>
            <a:endParaRPr b="1" i="0" sz="2700" u="none" cap="none" strike="noStrike">
              <a:solidFill>
                <a:srgbClr val="000000"/>
              </a:solidFill>
            </a:endParaRPr>
          </a:p>
        </p:txBody>
      </p:sp>
      <p:sp>
        <p:nvSpPr>
          <p:cNvPr id="176" name="Google Shape;176;p30"/>
          <p:cNvSpPr txBox="1"/>
          <p:nvPr/>
        </p:nvSpPr>
        <p:spPr>
          <a:xfrm>
            <a:off x="854775" y="5344025"/>
            <a:ext cx="74346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Pneumatic actuators use </a:t>
            </a:r>
            <a:r>
              <a:rPr b="1" lang="en-US" sz="1600"/>
              <a:t>compressed air</a:t>
            </a:r>
            <a:r>
              <a:rPr lang="en-US" sz="1600"/>
              <a:t> to produce linear or rotary motion. They are </a:t>
            </a:r>
            <a:r>
              <a:rPr b="1" lang="en-US" sz="1600"/>
              <a:t>fast, clean, and suitable for light to medium</a:t>
            </a:r>
            <a:r>
              <a:rPr lang="en-US" sz="1600"/>
              <a:t> load applications. Commonly used in automation where </a:t>
            </a:r>
            <a:r>
              <a:rPr b="1" lang="en-US" sz="1600"/>
              <a:t>speed and simplicity</a:t>
            </a:r>
            <a:r>
              <a:rPr lang="en-US" sz="1600"/>
              <a:t> are important.</a:t>
            </a:r>
            <a:endParaRPr sz="1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pic>
        <p:nvPicPr>
          <p:cNvPr id="181" name="Google Shape;181;p31"/>
          <p:cNvPicPr preferRelativeResize="0"/>
          <p:nvPr/>
        </p:nvPicPr>
        <p:blipFill rotWithShape="1">
          <a:blip r:embed="rId3">
            <a:alphaModFix/>
          </a:blip>
          <a:srcRect b="0" l="0" r="0" t="0"/>
          <a:stretch/>
        </p:blipFill>
        <p:spPr>
          <a:xfrm>
            <a:off x="490418" y="1618075"/>
            <a:ext cx="8163187" cy="2139600"/>
          </a:xfrm>
          <a:prstGeom prst="rect">
            <a:avLst/>
          </a:prstGeom>
          <a:noFill/>
          <a:ln>
            <a:noFill/>
          </a:ln>
        </p:spPr>
      </p:pic>
      <p:sp>
        <p:nvSpPr>
          <p:cNvPr id="182" name="Google Shape;182;p31"/>
          <p:cNvSpPr txBox="1"/>
          <p:nvPr/>
        </p:nvSpPr>
        <p:spPr>
          <a:xfrm>
            <a:off x="594191" y="374284"/>
            <a:ext cx="22986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rPr>
              <a:t>Hydraulic</a:t>
            </a:r>
            <a:endParaRPr b="1" i="0" sz="2700" u="none" cap="none" strike="noStrike">
              <a:solidFill>
                <a:srgbClr val="000000"/>
              </a:solidFill>
            </a:endParaRPr>
          </a:p>
        </p:txBody>
      </p:sp>
      <p:sp>
        <p:nvSpPr>
          <p:cNvPr id="183" name="Google Shape;183;p31"/>
          <p:cNvSpPr txBox="1"/>
          <p:nvPr/>
        </p:nvSpPr>
        <p:spPr>
          <a:xfrm>
            <a:off x="490363" y="4480800"/>
            <a:ext cx="81633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Hydraulic actuators operate using </a:t>
            </a:r>
            <a:r>
              <a:rPr b="1" lang="en-US" sz="1600"/>
              <a:t>pressurized fluid</a:t>
            </a:r>
            <a:r>
              <a:rPr lang="en-US" sz="1600"/>
              <a:t> to generate </a:t>
            </a:r>
            <a:r>
              <a:rPr b="1" lang="en-US" sz="1600"/>
              <a:t>high force and torque</a:t>
            </a:r>
            <a:r>
              <a:rPr lang="en-US" sz="1600"/>
              <a:t>. They are ideal for </a:t>
            </a:r>
            <a:r>
              <a:rPr b="1" lang="en-US" sz="1600"/>
              <a:t>heavy-duty applications</a:t>
            </a:r>
            <a:r>
              <a:rPr lang="en-US" sz="1600"/>
              <a:t> requiring </a:t>
            </a:r>
            <a:r>
              <a:rPr b="1" lang="en-US" sz="1600"/>
              <a:t>precise and powerful motion</a:t>
            </a:r>
            <a:r>
              <a:rPr lang="en-US" sz="1600"/>
              <a:t>. These actuators are widely used in </a:t>
            </a:r>
            <a:r>
              <a:rPr b="1" lang="en-US" sz="1600"/>
              <a:t>construction and industrial machinery</a:t>
            </a:r>
            <a:r>
              <a:rPr lang="en-US" sz="1600"/>
              <a:t>.</a:t>
            </a: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pic>
        <p:nvPicPr>
          <p:cNvPr id="188" name="Google Shape;188;p32"/>
          <p:cNvPicPr preferRelativeResize="0"/>
          <p:nvPr/>
        </p:nvPicPr>
        <p:blipFill rotWithShape="1">
          <a:blip r:embed="rId3">
            <a:alphaModFix/>
          </a:blip>
          <a:srcRect b="23387" l="0" r="0" t="21633"/>
          <a:stretch/>
        </p:blipFill>
        <p:spPr>
          <a:xfrm>
            <a:off x="2152650" y="1201000"/>
            <a:ext cx="4838700" cy="2660175"/>
          </a:xfrm>
          <a:prstGeom prst="rect">
            <a:avLst/>
          </a:prstGeom>
          <a:noFill/>
          <a:ln>
            <a:noFill/>
          </a:ln>
        </p:spPr>
      </p:pic>
      <p:sp>
        <p:nvSpPr>
          <p:cNvPr id="189" name="Google Shape;189;p32"/>
          <p:cNvSpPr txBox="1"/>
          <p:nvPr/>
        </p:nvSpPr>
        <p:spPr>
          <a:xfrm>
            <a:off x="658559" y="430909"/>
            <a:ext cx="2298600" cy="600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700"/>
              <a:buFont typeface="Arial"/>
              <a:buNone/>
            </a:pPr>
            <a:r>
              <a:rPr b="1" i="0" lang="en-US" sz="2700" u="none" cap="none" strike="noStrike">
                <a:solidFill>
                  <a:srgbClr val="000000"/>
                </a:solidFill>
              </a:rPr>
              <a:t>Electric</a:t>
            </a:r>
            <a:endParaRPr b="1" i="0" sz="2700" u="none" cap="none" strike="noStrike">
              <a:solidFill>
                <a:srgbClr val="000000"/>
              </a:solidFill>
            </a:endParaRPr>
          </a:p>
        </p:txBody>
      </p:sp>
      <p:sp>
        <p:nvSpPr>
          <p:cNvPr id="190" name="Google Shape;190;p32"/>
          <p:cNvSpPr txBox="1"/>
          <p:nvPr/>
        </p:nvSpPr>
        <p:spPr>
          <a:xfrm>
            <a:off x="705725" y="4292150"/>
            <a:ext cx="7843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600"/>
              <a:t>Electric actuators convert </a:t>
            </a:r>
            <a:r>
              <a:rPr b="1" lang="en-US" sz="1600"/>
              <a:t>electrical energy into mechanical motion</a:t>
            </a:r>
            <a:r>
              <a:rPr lang="en-US" sz="1600"/>
              <a:t> using motors. They offer </a:t>
            </a:r>
            <a:r>
              <a:rPr b="1" lang="en-US" sz="1600"/>
              <a:t>high precision, easy control, and low maintenance</a:t>
            </a:r>
            <a:r>
              <a:rPr lang="en-US" sz="1600"/>
              <a:t> compared to fluid-based systems. Suitable for applications requiring </a:t>
            </a:r>
            <a:r>
              <a:rPr b="1" lang="en-US" sz="1600"/>
              <a:t>accurate positioning</a:t>
            </a:r>
            <a:r>
              <a:rPr lang="en-US" sz="1600"/>
              <a:t> and integration with digital control systems.</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33"/>
          <p:cNvPicPr preferRelativeResize="0"/>
          <p:nvPr/>
        </p:nvPicPr>
        <p:blipFill rotWithShape="1">
          <a:blip r:embed="rId3">
            <a:alphaModFix/>
          </a:blip>
          <a:srcRect b="0" l="0" r="0" t="0"/>
          <a:stretch/>
        </p:blipFill>
        <p:spPr>
          <a:xfrm>
            <a:off x="490538" y="2433567"/>
            <a:ext cx="8162925" cy="3190875"/>
          </a:xfrm>
          <a:prstGeom prst="rect">
            <a:avLst/>
          </a:prstGeom>
          <a:noFill/>
          <a:ln>
            <a:noFill/>
          </a:ln>
        </p:spPr>
      </p:pic>
      <p:pic>
        <p:nvPicPr>
          <p:cNvPr id="196" name="Google Shape;196;p33"/>
          <p:cNvPicPr preferRelativeResize="0"/>
          <p:nvPr/>
        </p:nvPicPr>
        <p:blipFill rotWithShape="1">
          <a:blip r:embed="rId4">
            <a:alphaModFix/>
          </a:blip>
          <a:srcRect b="0" l="0" r="0" t="0"/>
          <a:stretch/>
        </p:blipFill>
        <p:spPr>
          <a:xfrm>
            <a:off x="542925" y="1559250"/>
            <a:ext cx="8058150" cy="571500"/>
          </a:xfrm>
          <a:prstGeom prst="rect">
            <a:avLst/>
          </a:prstGeom>
          <a:noFill/>
          <a:ln>
            <a:noFill/>
          </a:ln>
        </p:spPr>
      </p:pic>
      <p:sp>
        <p:nvSpPr>
          <p:cNvPr id="197" name="Google Shape;197;p33"/>
          <p:cNvSpPr txBox="1"/>
          <p:nvPr/>
        </p:nvSpPr>
        <p:spPr>
          <a:xfrm>
            <a:off x="1855188" y="703025"/>
            <a:ext cx="5433600" cy="677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200">
                <a:solidFill>
                  <a:schemeClr val="dk1"/>
                </a:solidFill>
                <a:latin typeface="Calibri"/>
                <a:ea typeface="Calibri"/>
                <a:cs typeface="Calibri"/>
                <a:sym typeface="Calibri"/>
              </a:rPr>
              <a:t>Actuators Comparison</a:t>
            </a:r>
            <a:endParaRPr b="1" sz="32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title"/>
          </p:nvPr>
        </p:nvSpPr>
        <p:spPr>
          <a:xfrm>
            <a:off x="311700" y="3584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Motor</a:t>
            </a:r>
            <a:endParaRPr/>
          </a:p>
        </p:txBody>
      </p:sp>
      <p:pic>
        <p:nvPicPr>
          <p:cNvPr id="203" name="Google Shape;203;p34"/>
          <p:cNvPicPr preferRelativeResize="0"/>
          <p:nvPr/>
        </p:nvPicPr>
        <p:blipFill rotWithShape="1">
          <a:blip r:embed="rId3">
            <a:alphaModFix/>
          </a:blip>
          <a:srcRect b="0" l="0" r="0" t="0"/>
          <a:stretch/>
        </p:blipFill>
        <p:spPr>
          <a:xfrm>
            <a:off x="2042101" y="1337546"/>
            <a:ext cx="5903599" cy="4182927"/>
          </a:xfrm>
          <a:prstGeom prst="rect">
            <a:avLst/>
          </a:prstGeom>
          <a:noFill/>
          <a:ln>
            <a:noFill/>
          </a:ln>
        </p:spPr>
      </p:pic>
      <p:sp>
        <p:nvSpPr>
          <p:cNvPr id="204" name="Google Shape;204;p34"/>
          <p:cNvSpPr txBox="1"/>
          <p:nvPr/>
        </p:nvSpPr>
        <p:spPr>
          <a:xfrm>
            <a:off x="3762162" y="1588209"/>
            <a:ext cx="1619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Stator</a:t>
            </a:r>
            <a:endParaRPr b="0" i="0" sz="3000" u="none" cap="none" strike="noStrike">
              <a:solidFill>
                <a:srgbClr val="000000"/>
              </a:solidFill>
              <a:latin typeface="Arial"/>
              <a:ea typeface="Arial"/>
              <a:cs typeface="Arial"/>
              <a:sym typeface="Arial"/>
            </a:endParaRPr>
          </a:p>
        </p:txBody>
      </p:sp>
      <p:sp>
        <p:nvSpPr>
          <p:cNvPr id="205" name="Google Shape;205;p34"/>
          <p:cNvSpPr txBox="1"/>
          <p:nvPr/>
        </p:nvSpPr>
        <p:spPr>
          <a:xfrm>
            <a:off x="2789313" y="4873974"/>
            <a:ext cx="16197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Arial"/>
                <a:ea typeface="Arial"/>
                <a:cs typeface="Arial"/>
                <a:sym typeface="Arial"/>
              </a:rPr>
              <a:t>Rotor</a:t>
            </a:r>
            <a:endParaRPr b="0" i="0" sz="30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5"/>
          <p:cNvSpPr txBox="1"/>
          <p:nvPr>
            <p:ph type="title"/>
          </p:nvPr>
        </p:nvSpPr>
        <p:spPr>
          <a:xfrm>
            <a:off x="311700" y="339081"/>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DC motor </a:t>
            </a:r>
            <a:endParaRPr/>
          </a:p>
        </p:txBody>
      </p:sp>
      <p:pic>
        <p:nvPicPr>
          <p:cNvPr id="211" name="Google Shape;211;p35"/>
          <p:cNvPicPr preferRelativeResize="0"/>
          <p:nvPr/>
        </p:nvPicPr>
        <p:blipFill rotWithShape="1">
          <a:blip r:embed="rId3">
            <a:alphaModFix/>
          </a:blip>
          <a:srcRect b="0" l="0" r="0" t="0"/>
          <a:stretch/>
        </p:blipFill>
        <p:spPr>
          <a:xfrm>
            <a:off x="311699" y="1356969"/>
            <a:ext cx="4389025" cy="3548225"/>
          </a:xfrm>
          <a:prstGeom prst="rect">
            <a:avLst/>
          </a:prstGeom>
          <a:noFill/>
          <a:ln>
            <a:noFill/>
          </a:ln>
        </p:spPr>
      </p:pic>
      <p:sp>
        <p:nvSpPr>
          <p:cNvPr id="212" name="Google Shape;212;p35"/>
          <p:cNvSpPr txBox="1"/>
          <p:nvPr/>
        </p:nvSpPr>
        <p:spPr>
          <a:xfrm>
            <a:off x="125027" y="6230825"/>
            <a:ext cx="50469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US"/>
              <a:t>Working  mechanism: </a:t>
            </a:r>
            <a:r>
              <a:rPr b="0" i="0" lang="en-US" sz="1400" u="sng" cap="none" strike="noStrike">
                <a:solidFill>
                  <a:schemeClr val="hlink"/>
                </a:solidFill>
                <a:latin typeface="Arial"/>
                <a:ea typeface="Arial"/>
                <a:cs typeface="Arial"/>
                <a:sym typeface="Arial"/>
                <a:hlinkClick r:id="rId4"/>
              </a:rPr>
              <a:t>https://youtu.be/LAtPHANEfQo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6"/>
          <p:cNvSpPr txBox="1"/>
          <p:nvPr>
            <p:ph type="title"/>
          </p:nvPr>
        </p:nvSpPr>
        <p:spPr>
          <a:xfrm>
            <a:off x="311700" y="339081"/>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DC motor </a:t>
            </a:r>
            <a:endParaRPr/>
          </a:p>
        </p:txBody>
      </p:sp>
      <p:pic>
        <p:nvPicPr>
          <p:cNvPr id="218" name="Google Shape;218;p36"/>
          <p:cNvPicPr preferRelativeResize="0"/>
          <p:nvPr/>
        </p:nvPicPr>
        <p:blipFill rotWithShape="1">
          <a:blip r:embed="rId3">
            <a:alphaModFix/>
          </a:blip>
          <a:srcRect b="0" l="0" r="0" t="0"/>
          <a:stretch/>
        </p:blipFill>
        <p:spPr>
          <a:xfrm>
            <a:off x="311699" y="1356969"/>
            <a:ext cx="4389025" cy="3548225"/>
          </a:xfrm>
          <a:prstGeom prst="rect">
            <a:avLst/>
          </a:prstGeom>
          <a:noFill/>
          <a:ln>
            <a:noFill/>
          </a:ln>
        </p:spPr>
      </p:pic>
      <p:pic>
        <p:nvPicPr>
          <p:cNvPr id="219" name="Google Shape;219;p36"/>
          <p:cNvPicPr preferRelativeResize="0"/>
          <p:nvPr/>
        </p:nvPicPr>
        <p:blipFill rotWithShape="1">
          <a:blip r:embed="rId4">
            <a:alphaModFix/>
          </a:blip>
          <a:srcRect b="0" l="0" r="0" t="0"/>
          <a:stretch/>
        </p:blipFill>
        <p:spPr>
          <a:xfrm>
            <a:off x="4853124" y="1560167"/>
            <a:ext cx="4138476" cy="2383762"/>
          </a:xfrm>
          <a:prstGeom prst="rect">
            <a:avLst/>
          </a:prstGeom>
          <a:noFill/>
          <a:ln>
            <a:noFill/>
          </a:ln>
        </p:spPr>
      </p:pic>
      <p:sp>
        <p:nvSpPr>
          <p:cNvPr id="220" name="Google Shape;220;p36"/>
          <p:cNvSpPr txBox="1"/>
          <p:nvPr/>
        </p:nvSpPr>
        <p:spPr>
          <a:xfrm>
            <a:off x="344850" y="5046700"/>
            <a:ext cx="84543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t>A DC motor works by converting electrical energy into </a:t>
            </a:r>
            <a:r>
              <a:rPr b="1" lang="en-US" sz="1600"/>
              <a:t>mechanical rotation through electromagnetic interaction</a:t>
            </a:r>
            <a:r>
              <a:rPr lang="en-US" sz="1600"/>
              <a:t>. When current flows through the armature winding, it creates a magnetic field that interacts with the stator field, producing torque. A commutator is used to maintain continuous rotation by reversing current direction. Speed control is typically achieved by varying the supply voltage.</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7"/>
          <p:cNvSpPr txBox="1"/>
          <p:nvPr>
            <p:ph type="title"/>
          </p:nvPr>
        </p:nvSpPr>
        <p:spPr>
          <a:xfrm>
            <a:off x="311700" y="2179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Stepper Motor </a:t>
            </a:r>
            <a:endParaRPr/>
          </a:p>
        </p:txBody>
      </p:sp>
      <p:pic>
        <p:nvPicPr>
          <p:cNvPr id="226" name="Google Shape;226;p37"/>
          <p:cNvPicPr preferRelativeResize="0"/>
          <p:nvPr/>
        </p:nvPicPr>
        <p:blipFill rotWithShape="1">
          <a:blip r:embed="rId3">
            <a:alphaModFix/>
          </a:blip>
          <a:srcRect b="0" l="0" r="0" t="0"/>
          <a:stretch/>
        </p:blipFill>
        <p:spPr>
          <a:xfrm>
            <a:off x="311696" y="1536628"/>
            <a:ext cx="3988175" cy="3189250"/>
          </a:xfrm>
          <a:prstGeom prst="rect">
            <a:avLst/>
          </a:prstGeom>
          <a:noFill/>
          <a:ln>
            <a:noFill/>
          </a:ln>
        </p:spPr>
      </p:pic>
      <p:sp>
        <p:nvSpPr>
          <p:cNvPr id="227" name="Google Shape;227;p37"/>
          <p:cNvSpPr txBox="1"/>
          <p:nvPr/>
        </p:nvSpPr>
        <p:spPr>
          <a:xfrm>
            <a:off x="417525" y="6197000"/>
            <a:ext cx="5009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lang="en-US"/>
              <a:t>Working mechanism: </a:t>
            </a:r>
            <a:r>
              <a:rPr b="0" i="0" lang="en-US" sz="1400" u="sng" cap="none" strike="noStrike">
                <a:solidFill>
                  <a:schemeClr val="hlink"/>
                </a:solidFill>
                <a:latin typeface="Arial"/>
                <a:ea typeface="Arial"/>
                <a:cs typeface="Arial"/>
                <a:sym typeface="Arial"/>
                <a:hlinkClick r:id="rId4"/>
              </a:rPr>
              <a:t>https://youtu.be/eyqwLiowZiU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8"/>
          <p:cNvSpPr txBox="1"/>
          <p:nvPr>
            <p:ph type="title"/>
          </p:nvPr>
        </p:nvSpPr>
        <p:spPr>
          <a:xfrm>
            <a:off x="270750" y="197731"/>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Stepper Motor </a:t>
            </a:r>
            <a:endParaRPr/>
          </a:p>
        </p:txBody>
      </p:sp>
      <p:pic>
        <p:nvPicPr>
          <p:cNvPr id="233" name="Google Shape;233;p38"/>
          <p:cNvPicPr preferRelativeResize="0"/>
          <p:nvPr/>
        </p:nvPicPr>
        <p:blipFill rotWithShape="1">
          <a:blip r:embed="rId3">
            <a:alphaModFix/>
          </a:blip>
          <a:srcRect b="0" l="0" r="0" t="0"/>
          <a:stretch/>
        </p:blipFill>
        <p:spPr>
          <a:xfrm>
            <a:off x="311696" y="1536628"/>
            <a:ext cx="3988175" cy="3189250"/>
          </a:xfrm>
          <a:prstGeom prst="rect">
            <a:avLst/>
          </a:prstGeom>
          <a:noFill/>
          <a:ln>
            <a:noFill/>
          </a:ln>
        </p:spPr>
      </p:pic>
      <p:pic>
        <p:nvPicPr>
          <p:cNvPr id="234" name="Google Shape;234;p38"/>
          <p:cNvPicPr preferRelativeResize="0"/>
          <p:nvPr/>
        </p:nvPicPr>
        <p:blipFill rotWithShape="1">
          <a:blip r:embed="rId4">
            <a:alphaModFix/>
          </a:blip>
          <a:srcRect b="0" l="0" r="0" t="0"/>
          <a:stretch/>
        </p:blipFill>
        <p:spPr>
          <a:xfrm>
            <a:off x="4975196" y="1215633"/>
            <a:ext cx="3307800" cy="3320051"/>
          </a:xfrm>
          <a:prstGeom prst="rect">
            <a:avLst/>
          </a:prstGeom>
          <a:noFill/>
          <a:ln>
            <a:noFill/>
          </a:ln>
        </p:spPr>
      </p:pic>
      <p:sp>
        <p:nvSpPr>
          <p:cNvPr id="235" name="Google Shape;235;p38"/>
          <p:cNvSpPr txBox="1"/>
          <p:nvPr/>
        </p:nvSpPr>
        <p:spPr>
          <a:xfrm>
            <a:off x="526500" y="5046875"/>
            <a:ext cx="80910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t>A stepper motor operates by dividing a full rotation into a </a:t>
            </a:r>
            <a:r>
              <a:rPr b="1" lang="en-US" sz="1600"/>
              <a:t>series of equal, discrete steps</a:t>
            </a:r>
            <a:r>
              <a:rPr lang="en-US" sz="1600"/>
              <a:t>. Sequential energizing of stator windings creates a rotating magnetic field that moves the rotor step by step. Each input pulse corresponds to a fixed angular movement, enabling precise position control. Stepper motors can hold their position without feedback when energized.</a:t>
            </a:r>
            <a:endParaRPr sz="16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9"/>
          <p:cNvSpPr txBox="1"/>
          <p:nvPr>
            <p:ph type="title"/>
          </p:nvPr>
        </p:nvSpPr>
        <p:spPr>
          <a:xfrm>
            <a:off x="311700" y="7911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Servo Motor </a:t>
            </a:r>
            <a:endParaRPr/>
          </a:p>
        </p:txBody>
      </p:sp>
      <p:pic>
        <p:nvPicPr>
          <p:cNvPr id="241" name="Google Shape;241;p39"/>
          <p:cNvPicPr preferRelativeResize="0"/>
          <p:nvPr/>
        </p:nvPicPr>
        <p:blipFill rotWithShape="1">
          <a:blip r:embed="rId3">
            <a:alphaModFix/>
          </a:blip>
          <a:srcRect b="0" l="0" r="0" t="0"/>
          <a:stretch/>
        </p:blipFill>
        <p:spPr>
          <a:xfrm>
            <a:off x="1717680" y="1506809"/>
            <a:ext cx="6183850" cy="44731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0"/>
          <p:cNvSpPr txBox="1"/>
          <p:nvPr>
            <p:ph type="title"/>
          </p:nvPr>
        </p:nvSpPr>
        <p:spPr>
          <a:xfrm>
            <a:off x="311700" y="791156"/>
            <a:ext cx="8520600" cy="10179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111"/>
              <a:buNone/>
            </a:pPr>
            <a:r>
              <a:rPr lang="en-US"/>
              <a:t>Servo Motor </a:t>
            </a:r>
            <a:endParaRPr/>
          </a:p>
        </p:txBody>
      </p:sp>
      <p:pic>
        <p:nvPicPr>
          <p:cNvPr id="247" name="Google Shape;247;p40"/>
          <p:cNvPicPr preferRelativeResize="0"/>
          <p:nvPr/>
        </p:nvPicPr>
        <p:blipFill>
          <a:blip r:embed="rId3">
            <a:alphaModFix/>
          </a:blip>
          <a:stretch>
            <a:fillRect/>
          </a:stretch>
        </p:blipFill>
        <p:spPr>
          <a:xfrm>
            <a:off x="2038675" y="1741177"/>
            <a:ext cx="5066650" cy="3375650"/>
          </a:xfrm>
          <a:prstGeom prst="rect">
            <a:avLst/>
          </a:prstGeom>
          <a:noFill/>
          <a:ln>
            <a:noFill/>
          </a:ln>
        </p:spPr>
      </p:pic>
      <p:sp>
        <p:nvSpPr>
          <p:cNvPr id="248" name="Google Shape;248;p40"/>
          <p:cNvSpPr txBox="1"/>
          <p:nvPr/>
        </p:nvSpPr>
        <p:spPr>
          <a:xfrm>
            <a:off x="467550" y="5197750"/>
            <a:ext cx="82089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1600"/>
              <a:t>A servo motor works using a </a:t>
            </a:r>
            <a:r>
              <a:rPr b="1" lang="en-US" sz="1600"/>
              <a:t>closed-loop control system with feedback</a:t>
            </a:r>
            <a:r>
              <a:rPr lang="en-US" sz="1600"/>
              <a:t> from a potentiometer. The controller compares the desired position with the actual position and adjusts the motor accordingly. This allows high precision and accuracy in position, speed, and torque control. Servo motors are widely used in robotics and automation where precision is critical.</a:t>
            </a:r>
            <a:endParaRPr sz="16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descr="E:\Arif\Summer2020\CSE461\Lectures\intro pics\Robotics and Embedded Systems-46.jpg" id="253" name="Google Shape;253;p41"/>
          <p:cNvPicPr preferRelativeResize="0"/>
          <p:nvPr/>
        </p:nvPicPr>
        <p:blipFill rotWithShape="1">
          <a:blip r:embed="rId3">
            <a:alphaModFix/>
          </a:blip>
          <a:srcRect b="0" l="0" r="0" t="0"/>
          <a:stretch/>
        </p:blipFill>
        <p:spPr>
          <a:xfrm>
            <a:off x="0" y="0"/>
            <a:ext cx="9143998" cy="6857998"/>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7" name="Shape 257"/>
        <p:cNvGrpSpPr/>
        <p:nvPr/>
      </p:nvGrpSpPr>
      <p:grpSpPr>
        <a:xfrm>
          <a:off x="0" y="0"/>
          <a:ext cx="0" cy="0"/>
          <a:chOff x="0" y="0"/>
          <a:chExt cx="0" cy="0"/>
        </a:xfrm>
      </p:grpSpPr>
      <p:sp>
        <p:nvSpPr>
          <p:cNvPr id="258" name="Google Shape;258;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Software</a:t>
            </a:r>
            <a:endParaRPr/>
          </a:p>
        </p:txBody>
      </p:sp>
      <p:sp>
        <p:nvSpPr>
          <p:cNvPr id="259" name="Google Shape;259;p4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fontScale="85000" lnSpcReduction="20000"/>
          </a:bodyPr>
          <a:lstStyle/>
          <a:p>
            <a:pPr indent="-406400" lvl="0" marL="457200" rtl="0" algn="l">
              <a:lnSpc>
                <a:spcPct val="100000"/>
              </a:lnSpc>
              <a:spcBef>
                <a:spcPts val="560"/>
              </a:spcBef>
              <a:spcAft>
                <a:spcPts val="0"/>
              </a:spcAft>
              <a:buClr>
                <a:schemeClr val="dk1"/>
              </a:buClr>
              <a:buSzPct val="117646"/>
              <a:buChar char="•"/>
            </a:pPr>
            <a:r>
              <a:rPr lang="en-US"/>
              <a:t>Robot Vision</a:t>
            </a:r>
            <a:endParaRPr/>
          </a:p>
          <a:p>
            <a:pPr indent="-406400" lvl="0" marL="457200" rtl="0" algn="l">
              <a:lnSpc>
                <a:spcPct val="100000"/>
              </a:lnSpc>
              <a:spcBef>
                <a:spcPts val="560"/>
              </a:spcBef>
              <a:spcAft>
                <a:spcPts val="0"/>
              </a:spcAft>
              <a:buSzPct val="117646"/>
              <a:buChar char="•"/>
            </a:pPr>
            <a:r>
              <a:rPr lang="en-US"/>
              <a:t>PID control</a:t>
            </a:r>
            <a:endParaRPr/>
          </a:p>
          <a:p>
            <a:pPr indent="-406400" lvl="0" marL="457200" rtl="0" algn="l">
              <a:lnSpc>
                <a:spcPct val="100000"/>
              </a:lnSpc>
              <a:spcBef>
                <a:spcPts val="560"/>
              </a:spcBef>
              <a:spcAft>
                <a:spcPts val="0"/>
              </a:spcAft>
              <a:buSzPct val="117646"/>
              <a:buChar char="•"/>
            </a:pPr>
            <a:r>
              <a:rPr lang="en-US"/>
              <a:t>Trajectory/Motion Planning</a:t>
            </a:r>
            <a:endParaRPr/>
          </a:p>
          <a:p>
            <a:pPr indent="-406400" lvl="0" marL="457200" rtl="0" algn="l">
              <a:lnSpc>
                <a:spcPct val="100000"/>
              </a:lnSpc>
              <a:spcBef>
                <a:spcPts val="560"/>
              </a:spcBef>
              <a:spcAft>
                <a:spcPts val="0"/>
              </a:spcAft>
              <a:buSzPct val="117646"/>
              <a:buChar char="•"/>
            </a:pPr>
            <a:r>
              <a:rPr lang="en-US"/>
              <a:t>Localization </a:t>
            </a:r>
            <a:endParaRPr/>
          </a:p>
          <a:p>
            <a:pPr indent="-406400" lvl="0" marL="457200" rtl="0" algn="l">
              <a:lnSpc>
                <a:spcPct val="100000"/>
              </a:lnSpc>
              <a:spcBef>
                <a:spcPts val="560"/>
              </a:spcBef>
              <a:spcAft>
                <a:spcPts val="0"/>
              </a:spcAft>
              <a:buSzPct val="117646"/>
              <a:buChar char="•"/>
            </a:pPr>
            <a:r>
              <a:rPr lang="en-US"/>
              <a:t>Manipulator Control </a:t>
            </a:r>
            <a:endParaRPr/>
          </a:p>
          <a:p>
            <a:pPr indent="-406400" lvl="0" marL="457200" rtl="0" algn="l">
              <a:lnSpc>
                <a:spcPct val="100000"/>
              </a:lnSpc>
              <a:spcBef>
                <a:spcPts val="560"/>
              </a:spcBef>
              <a:spcAft>
                <a:spcPts val="0"/>
              </a:spcAft>
              <a:buSzPct val="117646"/>
              <a:buChar char="•"/>
            </a:pPr>
            <a:r>
              <a:rPr lang="en-US"/>
              <a:t>UAV Navigation</a:t>
            </a:r>
            <a:endParaRPr/>
          </a:p>
          <a:p>
            <a:pPr indent="-406400" lvl="0" marL="457200" rtl="0" algn="l">
              <a:lnSpc>
                <a:spcPct val="100000"/>
              </a:lnSpc>
              <a:spcBef>
                <a:spcPts val="560"/>
              </a:spcBef>
              <a:spcAft>
                <a:spcPts val="0"/>
              </a:spcAft>
              <a:buSzPct val="117646"/>
              <a:buChar char="•"/>
            </a:pPr>
            <a:r>
              <a:rPr lang="en-US"/>
              <a:t>Sensors calibration and sensor fusion</a:t>
            </a:r>
            <a:endParaRPr/>
          </a:p>
          <a:p>
            <a:pPr indent="-406400" lvl="0" marL="457200" rtl="0" algn="l">
              <a:lnSpc>
                <a:spcPct val="100000"/>
              </a:lnSpc>
              <a:spcBef>
                <a:spcPts val="560"/>
              </a:spcBef>
              <a:spcAft>
                <a:spcPts val="0"/>
              </a:spcAft>
              <a:buClr>
                <a:schemeClr val="dk1"/>
              </a:buClr>
              <a:buSzPct val="117646"/>
              <a:buChar char="•"/>
            </a:pPr>
            <a:r>
              <a:rPr lang="en-US"/>
              <a:t>Kinematics and dynamics</a:t>
            </a:r>
            <a:endParaRPr/>
          </a:p>
          <a:p>
            <a:pPr indent="-406400" lvl="0" marL="457200" rtl="0" algn="l">
              <a:lnSpc>
                <a:spcPct val="100000"/>
              </a:lnSpc>
              <a:spcBef>
                <a:spcPts val="560"/>
              </a:spcBef>
              <a:spcAft>
                <a:spcPts val="0"/>
              </a:spcAft>
              <a:buClr>
                <a:schemeClr val="dk1"/>
              </a:buClr>
              <a:buSzPct val="117646"/>
              <a:buChar char="•"/>
            </a:pPr>
            <a:r>
              <a:rPr lang="en-US"/>
              <a:t>Interfacing</a:t>
            </a:r>
            <a:endParaRPr/>
          </a:p>
          <a:p>
            <a:pPr indent="-406400" lvl="0" marL="457200" rtl="0" algn="l">
              <a:lnSpc>
                <a:spcPct val="100000"/>
              </a:lnSpc>
              <a:spcBef>
                <a:spcPts val="560"/>
              </a:spcBef>
              <a:spcAft>
                <a:spcPts val="0"/>
              </a:spcAft>
              <a:buClr>
                <a:schemeClr val="dk1"/>
              </a:buClr>
              <a:buSzPct val="117646"/>
              <a:buChar char="•"/>
            </a:pPr>
            <a:r>
              <a:rPr lang="en-US"/>
              <a:t>Communication</a:t>
            </a:r>
            <a:endParaRPr/>
          </a:p>
        </p:txBody>
      </p:sp>
      <p:pic>
        <p:nvPicPr>
          <p:cNvPr descr="E:\Arif\Summer2020\CSE461\Lectures\intro pics\Robotics and Embedded Systems-47.jpg" id="260" name="Google Shape;260;p42"/>
          <p:cNvPicPr preferRelativeResize="0"/>
          <p:nvPr/>
        </p:nvPicPr>
        <p:blipFill rotWithShape="1">
          <a:blip r:embed="rId3">
            <a:alphaModFix/>
          </a:blip>
          <a:srcRect b="9174" l="7030" r="55643" t="25610"/>
          <a:stretch/>
        </p:blipFill>
        <p:spPr>
          <a:xfrm>
            <a:off x="633743" y="1575302"/>
            <a:ext cx="3485584" cy="4581053"/>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Control Hardware</a:t>
            </a:r>
            <a:endParaRPr/>
          </a:p>
        </p:txBody>
      </p:sp>
      <p:sp>
        <p:nvSpPr>
          <p:cNvPr id="266" name="Google Shape;266;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457200" rtl="0" algn="l">
              <a:lnSpc>
                <a:spcPct val="100000"/>
              </a:lnSpc>
              <a:spcBef>
                <a:spcPts val="360"/>
              </a:spcBef>
              <a:spcAft>
                <a:spcPts val="0"/>
              </a:spcAft>
              <a:buClr>
                <a:schemeClr val="dk1"/>
              </a:buClr>
              <a:buSzPts val="1800"/>
              <a:buChar char="•"/>
            </a:pPr>
            <a:r>
              <a:rPr lang="en-US"/>
              <a:t>Microcontrollers</a:t>
            </a:r>
            <a:endParaRPr/>
          </a:p>
          <a:p>
            <a:pPr indent="-342900" lvl="0" marL="457200" rtl="0" algn="l">
              <a:lnSpc>
                <a:spcPct val="100000"/>
              </a:lnSpc>
              <a:spcBef>
                <a:spcPts val="360"/>
              </a:spcBef>
              <a:spcAft>
                <a:spcPts val="0"/>
              </a:spcAft>
              <a:buClr>
                <a:schemeClr val="dk1"/>
              </a:buClr>
              <a:buSzPts val="1800"/>
              <a:buChar char="•"/>
            </a:pPr>
            <a:r>
              <a:rPr lang="en-US"/>
              <a:t>Arduino</a:t>
            </a:r>
            <a:endParaRPr/>
          </a:p>
          <a:p>
            <a:pPr indent="-342900" lvl="0" marL="457200" rtl="0" algn="l">
              <a:lnSpc>
                <a:spcPct val="100000"/>
              </a:lnSpc>
              <a:spcBef>
                <a:spcPts val="360"/>
              </a:spcBef>
              <a:spcAft>
                <a:spcPts val="0"/>
              </a:spcAft>
              <a:buClr>
                <a:schemeClr val="dk1"/>
              </a:buClr>
              <a:buSzPts val="1800"/>
              <a:buChar char="•"/>
            </a:pPr>
            <a:r>
              <a:rPr lang="en-US"/>
              <a:t>PLC</a:t>
            </a:r>
            <a:endParaRPr/>
          </a:p>
          <a:p>
            <a:pPr indent="-342900" lvl="0" marL="457200" rtl="0" algn="l">
              <a:lnSpc>
                <a:spcPct val="100000"/>
              </a:lnSpc>
              <a:spcBef>
                <a:spcPts val="360"/>
              </a:spcBef>
              <a:spcAft>
                <a:spcPts val="0"/>
              </a:spcAft>
              <a:buClr>
                <a:schemeClr val="dk1"/>
              </a:buClr>
              <a:buSzPts val="1800"/>
              <a:buChar char="•"/>
            </a:pPr>
            <a:r>
              <a:rPr lang="en-US"/>
              <a:t>FPGA</a:t>
            </a:r>
            <a:endParaRPr/>
          </a:p>
          <a:p>
            <a:pPr indent="-342900" lvl="0" marL="457200" rtl="0" algn="l">
              <a:lnSpc>
                <a:spcPct val="100000"/>
              </a:lnSpc>
              <a:spcBef>
                <a:spcPts val="360"/>
              </a:spcBef>
              <a:spcAft>
                <a:spcPts val="0"/>
              </a:spcAft>
              <a:buClr>
                <a:schemeClr val="dk1"/>
              </a:buClr>
              <a:buSzPts val="1800"/>
              <a:buChar char="•"/>
            </a:pPr>
            <a:r>
              <a:rPr lang="en-US"/>
              <a:t>Single Board Computer</a:t>
            </a:r>
            <a:endParaRPr/>
          </a:p>
          <a:p>
            <a:pPr indent="-342900" lvl="0" marL="457200" rtl="0" algn="l">
              <a:lnSpc>
                <a:spcPct val="100000"/>
              </a:lnSpc>
              <a:spcBef>
                <a:spcPts val="360"/>
              </a:spcBef>
              <a:spcAft>
                <a:spcPts val="0"/>
              </a:spcAft>
              <a:buClr>
                <a:schemeClr val="dk1"/>
              </a:buClr>
              <a:buSzPts val="1800"/>
              <a:buChar char="•"/>
            </a:pPr>
            <a:r>
              <a:rPr lang="en-US"/>
              <a:t>Portable PCs</a:t>
            </a:r>
            <a:endParaRPr/>
          </a:p>
          <a:p>
            <a:pPr indent="-342900" lvl="0" marL="457200" rtl="0" algn="l">
              <a:lnSpc>
                <a:spcPct val="100000"/>
              </a:lnSpc>
              <a:spcBef>
                <a:spcPts val="360"/>
              </a:spcBef>
              <a:spcAft>
                <a:spcPts val="0"/>
              </a:spcAft>
              <a:buClr>
                <a:schemeClr val="dk1"/>
              </a:buClr>
              <a:buSzPts val="1800"/>
              <a:buChar char="•"/>
            </a:pPr>
            <a:r>
              <a:rPr lang="en-US"/>
              <a:t>Cloud Computing System</a:t>
            </a:r>
            <a:endParaRPr/>
          </a:p>
          <a:p>
            <a:pPr indent="-228600" lvl="0" marL="457200" rtl="0" algn="l">
              <a:lnSpc>
                <a:spcPct val="100000"/>
              </a:lnSpc>
              <a:spcBef>
                <a:spcPts val="360"/>
              </a:spcBef>
              <a:spcAft>
                <a:spcPts val="0"/>
              </a:spcAft>
              <a:buClr>
                <a:schemeClr val="dk1"/>
              </a:buClr>
              <a:buSzPts val="1800"/>
              <a:buNone/>
            </a:pPr>
            <a:r>
              <a:t/>
            </a:r>
            <a:endParaRPr/>
          </a:p>
          <a:p>
            <a:pPr indent="-228600" lvl="0" marL="457200" rtl="0" algn="l">
              <a:lnSpc>
                <a:spcPct val="100000"/>
              </a:lnSpc>
              <a:spcBef>
                <a:spcPts val="360"/>
              </a:spcBef>
              <a:spcAft>
                <a:spcPts val="0"/>
              </a:spcAft>
              <a:buClr>
                <a:schemeClr val="dk1"/>
              </a:buClr>
              <a:buSzPts val="1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4"/>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Microcontrollers</a:t>
            </a:r>
            <a:endParaRPr/>
          </a:p>
        </p:txBody>
      </p:sp>
      <p:pic>
        <p:nvPicPr>
          <p:cNvPr id="272" name="Google Shape;272;p44"/>
          <p:cNvPicPr preferRelativeResize="0"/>
          <p:nvPr>
            <p:ph idx="1" type="body"/>
          </p:nvPr>
        </p:nvPicPr>
        <p:blipFill rotWithShape="1">
          <a:blip r:embed="rId3">
            <a:alphaModFix/>
          </a:blip>
          <a:srcRect b="0" l="0" r="0" t="0"/>
          <a:stretch/>
        </p:blipFill>
        <p:spPr>
          <a:xfrm>
            <a:off x="457200" y="3189924"/>
            <a:ext cx="4038600" cy="2704800"/>
          </a:xfrm>
          <a:prstGeom prst="rect">
            <a:avLst/>
          </a:prstGeom>
          <a:noFill/>
          <a:ln>
            <a:noFill/>
          </a:ln>
        </p:spPr>
      </p:pic>
      <p:pic>
        <p:nvPicPr>
          <p:cNvPr id="273" name="Google Shape;273;p44"/>
          <p:cNvPicPr preferRelativeResize="0"/>
          <p:nvPr>
            <p:ph idx="2" type="body"/>
          </p:nvPr>
        </p:nvPicPr>
        <p:blipFill rotWithShape="1">
          <a:blip r:embed="rId4">
            <a:alphaModFix/>
          </a:blip>
          <a:srcRect b="0" l="0" r="0" t="0"/>
          <a:stretch/>
        </p:blipFill>
        <p:spPr>
          <a:xfrm>
            <a:off x="4648275" y="3189937"/>
            <a:ext cx="4038600" cy="2704800"/>
          </a:xfrm>
          <a:prstGeom prst="rect">
            <a:avLst/>
          </a:prstGeom>
          <a:noFill/>
          <a:ln>
            <a:noFill/>
          </a:ln>
        </p:spPr>
      </p:pic>
      <p:sp>
        <p:nvSpPr>
          <p:cNvPr id="274" name="Google Shape;274;p44"/>
          <p:cNvSpPr txBox="1"/>
          <p:nvPr/>
        </p:nvSpPr>
        <p:spPr>
          <a:xfrm>
            <a:off x="673500" y="1252225"/>
            <a:ext cx="7797000" cy="1516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800"/>
              <a:buFont typeface="Arial"/>
              <a:buNone/>
            </a:pPr>
            <a:r>
              <a:rPr b="0" i="0" lang="en-US" sz="2000" u="none" cap="none" strike="noStrike">
                <a:solidFill>
                  <a:srgbClr val="000000"/>
                </a:solidFill>
                <a:latin typeface="Times New Roman"/>
                <a:ea typeface="Times New Roman"/>
                <a:cs typeface="Times New Roman"/>
                <a:sym typeface="Times New Roman"/>
              </a:rPr>
              <a:t>A microcontroller is a small, integrated circuit that contains a processor, memory, and input/output peripherals on a single chi</a:t>
            </a:r>
            <a:r>
              <a:rPr lang="en-US" sz="2000">
                <a:latin typeface="Times New Roman"/>
                <a:ea typeface="Times New Roman"/>
                <a:cs typeface="Times New Roman"/>
                <a:sym typeface="Times New Roman"/>
              </a:rPr>
              <a:t>p</a:t>
            </a:r>
            <a:r>
              <a:rPr b="0" i="0" lang="en-US" sz="2000" u="none" cap="none" strike="noStrike">
                <a:solidFill>
                  <a:srgbClr val="000000"/>
                </a:solidFill>
                <a:latin typeface="Times New Roman"/>
                <a:ea typeface="Times New Roman"/>
                <a:cs typeface="Times New Roman"/>
                <a:sym typeface="Times New Roman"/>
              </a:rPr>
              <a:t>. In robotics, it is used for low-level control tasks such as sensor reading, motor control, and real-time decision making in embedded systems.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5"/>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Arduino</a:t>
            </a:r>
            <a:endParaRPr/>
          </a:p>
        </p:txBody>
      </p:sp>
      <p:pic>
        <p:nvPicPr>
          <p:cNvPr id="280" name="Google Shape;280;p45"/>
          <p:cNvPicPr preferRelativeResize="0"/>
          <p:nvPr>
            <p:ph idx="1" type="body"/>
          </p:nvPr>
        </p:nvPicPr>
        <p:blipFill rotWithShape="1">
          <a:blip r:embed="rId3">
            <a:alphaModFix/>
          </a:blip>
          <a:srcRect b="0" l="0" r="0" t="0"/>
          <a:stretch/>
        </p:blipFill>
        <p:spPr>
          <a:xfrm>
            <a:off x="6603000" y="4771200"/>
            <a:ext cx="2684700" cy="2086800"/>
          </a:xfrm>
          <a:prstGeom prst="rect">
            <a:avLst/>
          </a:prstGeom>
          <a:noFill/>
          <a:ln>
            <a:noFill/>
          </a:ln>
        </p:spPr>
      </p:pic>
      <p:pic>
        <p:nvPicPr>
          <p:cNvPr id="281" name="Google Shape;281;p45"/>
          <p:cNvPicPr preferRelativeResize="0"/>
          <p:nvPr>
            <p:ph idx="2" type="body"/>
          </p:nvPr>
        </p:nvPicPr>
        <p:blipFill>
          <a:blip r:embed="rId4">
            <a:alphaModFix/>
          </a:blip>
          <a:stretch>
            <a:fillRect/>
          </a:stretch>
        </p:blipFill>
        <p:spPr>
          <a:xfrm>
            <a:off x="2541000" y="2796002"/>
            <a:ext cx="4062000" cy="4062000"/>
          </a:xfrm>
          <a:prstGeom prst="rect">
            <a:avLst/>
          </a:prstGeom>
          <a:noFill/>
        </p:spPr>
      </p:pic>
      <p:sp>
        <p:nvSpPr>
          <p:cNvPr id="282" name="Google Shape;282;p45"/>
          <p:cNvSpPr txBox="1"/>
          <p:nvPr/>
        </p:nvSpPr>
        <p:spPr>
          <a:xfrm>
            <a:off x="311700" y="1301775"/>
            <a:ext cx="8520600" cy="1416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000">
                <a:latin typeface="Times New Roman"/>
                <a:ea typeface="Times New Roman"/>
                <a:cs typeface="Times New Roman"/>
                <a:sym typeface="Times New Roman"/>
              </a:rPr>
              <a:t>Arduino is an open-source microcontroller platform designed for rapid prototyping and ease of use. In robotics, it is widely used for educational robots and simple control tasks like line following, obstacle detection, and actuator control</a:t>
            </a:r>
            <a:endParaRPr sz="2000">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6"/>
          <p:cNvSpPr txBox="1"/>
          <p:nvPr>
            <p:ph type="title"/>
          </p:nvPr>
        </p:nvSpPr>
        <p:spPr>
          <a:xfrm>
            <a:off x="311700" y="445025"/>
            <a:ext cx="8520600" cy="572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0908"/>
              <a:buNone/>
            </a:pPr>
            <a:r>
              <a:rPr lang="en-US"/>
              <a:t>Arduino</a:t>
            </a:r>
            <a:endParaRPr/>
          </a:p>
        </p:txBody>
      </p:sp>
      <p:pic>
        <p:nvPicPr>
          <p:cNvPr descr="Intro to Arduino (for absolute beginners) - klab.ca" id="288" name="Google Shape;288;p46"/>
          <p:cNvPicPr preferRelativeResize="0"/>
          <p:nvPr/>
        </p:nvPicPr>
        <p:blipFill rotWithShape="1">
          <a:blip r:embed="rId3">
            <a:alphaModFix/>
          </a:blip>
          <a:srcRect b="0" l="0" r="0" t="0"/>
          <a:stretch/>
        </p:blipFill>
        <p:spPr>
          <a:xfrm>
            <a:off x="923252" y="1412202"/>
            <a:ext cx="7297500" cy="49885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7"/>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4"/>
              <a:buNone/>
            </a:pPr>
            <a:r>
              <a:rPr lang="en-US"/>
              <a:t>Programmable Logic Controller (PLC)</a:t>
            </a:r>
            <a:endParaRPr/>
          </a:p>
        </p:txBody>
      </p:sp>
      <p:pic>
        <p:nvPicPr>
          <p:cNvPr id="294" name="Google Shape;294;p47"/>
          <p:cNvPicPr preferRelativeResize="0"/>
          <p:nvPr/>
        </p:nvPicPr>
        <p:blipFill rotWithShape="1">
          <a:blip r:embed="rId3">
            <a:alphaModFix/>
          </a:blip>
          <a:srcRect b="0" l="0" r="0" t="0"/>
          <a:stretch/>
        </p:blipFill>
        <p:spPr>
          <a:xfrm>
            <a:off x="4072227" y="1341019"/>
            <a:ext cx="4614574" cy="3131976"/>
          </a:xfrm>
          <a:prstGeom prst="rect">
            <a:avLst/>
          </a:prstGeom>
          <a:noFill/>
          <a:ln>
            <a:noFill/>
          </a:ln>
        </p:spPr>
      </p:pic>
      <p:pic>
        <p:nvPicPr>
          <p:cNvPr id="295" name="Google Shape;295;p47"/>
          <p:cNvPicPr preferRelativeResize="0"/>
          <p:nvPr/>
        </p:nvPicPr>
        <p:blipFill rotWithShape="1">
          <a:blip r:embed="rId4">
            <a:alphaModFix/>
          </a:blip>
          <a:srcRect b="0" l="0" r="0" t="0"/>
          <a:stretch/>
        </p:blipFill>
        <p:spPr>
          <a:xfrm>
            <a:off x="152400" y="1266779"/>
            <a:ext cx="3767427" cy="3579056"/>
          </a:xfrm>
          <a:prstGeom prst="rect">
            <a:avLst/>
          </a:prstGeom>
          <a:noFill/>
          <a:ln>
            <a:noFill/>
          </a:ln>
        </p:spPr>
      </p:pic>
      <p:sp>
        <p:nvSpPr>
          <p:cNvPr id="296" name="Google Shape;296;p47"/>
          <p:cNvSpPr txBox="1"/>
          <p:nvPr/>
        </p:nvSpPr>
        <p:spPr>
          <a:xfrm>
            <a:off x="316350" y="5150575"/>
            <a:ext cx="8511300" cy="1108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000">
                <a:latin typeface="Times New Roman"/>
                <a:ea typeface="Times New Roman"/>
                <a:cs typeface="Times New Roman"/>
                <a:sym typeface="Times New Roman"/>
              </a:rPr>
              <a:t>A PLC is an industrial-grade controller designed for reliable and deterministic control. In robotics, PLCs are used in industrial automation, robotic arms, and assembly lines where robustness and real-time performance are critical</a:t>
            </a:r>
            <a:endParaRPr sz="2000">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8"/>
          <p:cNvSpPr txBox="1"/>
          <p:nvPr>
            <p:ph type="title"/>
          </p:nvPr>
        </p:nvSpPr>
        <p:spPr>
          <a:xfrm>
            <a:off x="457200" y="3508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45454"/>
              <a:buNone/>
            </a:pPr>
            <a:r>
              <a:rPr lang="en-US"/>
              <a:t>Programmable Logic Controller (PLC)</a:t>
            </a:r>
            <a:endParaRPr/>
          </a:p>
        </p:txBody>
      </p:sp>
      <p:pic>
        <p:nvPicPr>
          <p:cNvPr id="302" name="Google Shape;302;p48"/>
          <p:cNvPicPr preferRelativeResize="0"/>
          <p:nvPr>
            <p:ph idx="1" type="body"/>
          </p:nvPr>
        </p:nvPicPr>
        <p:blipFill rotWithShape="1">
          <a:blip r:embed="rId3">
            <a:alphaModFix/>
          </a:blip>
          <a:srcRect b="0" l="0" r="0" t="0"/>
          <a:stretch/>
        </p:blipFill>
        <p:spPr>
          <a:xfrm>
            <a:off x="228600" y="2286000"/>
            <a:ext cx="3208459" cy="3239609"/>
          </a:xfrm>
          <a:prstGeom prst="rect">
            <a:avLst/>
          </a:prstGeom>
          <a:noFill/>
          <a:ln>
            <a:noFill/>
          </a:ln>
        </p:spPr>
      </p:pic>
      <p:pic>
        <p:nvPicPr>
          <p:cNvPr id="303" name="Google Shape;303;p48"/>
          <p:cNvPicPr preferRelativeResize="0"/>
          <p:nvPr>
            <p:ph idx="2" type="body"/>
          </p:nvPr>
        </p:nvPicPr>
        <p:blipFill rotWithShape="1">
          <a:blip r:embed="rId4">
            <a:alphaModFix/>
          </a:blip>
          <a:srcRect b="0" l="0" r="0" t="0"/>
          <a:stretch/>
        </p:blipFill>
        <p:spPr>
          <a:xfrm>
            <a:off x="3657600" y="1981200"/>
            <a:ext cx="5362917" cy="3581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9"/>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Single board Computer</a:t>
            </a:r>
            <a:endParaRPr/>
          </a:p>
        </p:txBody>
      </p:sp>
      <p:pic>
        <p:nvPicPr>
          <p:cNvPr id="309" name="Google Shape;309;p49"/>
          <p:cNvPicPr preferRelativeResize="0"/>
          <p:nvPr>
            <p:ph idx="1" type="body"/>
          </p:nvPr>
        </p:nvPicPr>
        <p:blipFill rotWithShape="1">
          <a:blip r:embed="rId3">
            <a:alphaModFix/>
          </a:blip>
          <a:srcRect b="0" l="0" r="0" t="0"/>
          <a:stretch/>
        </p:blipFill>
        <p:spPr>
          <a:xfrm>
            <a:off x="457200" y="1846215"/>
            <a:ext cx="4038600" cy="2751300"/>
          </a:xfrm>
          <a:prstGeom prst="rect">
            <a:avLst/>
          </a:prstGeom>
          <a:noFill/>
          <a:ln>
            <a:noFill/>
          </a:ln>
        </p:spPr>
      </p:pic>
      <p:pic>
        <p:nvPicPr>
          <p:cNvPr id="310" name="Google Shape;310;p49"/>
          <p:cNvPicPr preferRelativeResize="0"/>
          <p:nvPr>
            <p:ph idx="2" type="body"/>
          </p:nvPr>
        </p:nvPicPr>
        <p:blipFill rotWithShape="1">
          <a:blip r:embed="rId4">
            <a:alphaModFix/>
          </a:blip>
          <a:srcRect b="0" l="0" r="0" t="0"/>
          <a:stretch/>
        </p:blipFill>
        <p:spPr>
          <a:xfrm>
            <a:off x="4648200" y="1851935"/>
            <a:ext cx="4038600" cy="2739900"/>
          </a:xfrm>
          <a:prstGeom prst="rect">
            <a:avLst/>
          </a:prstGeom>
          <a:noFill/>
          <a:ln>
            <a:noFill/>
          </a:ln>
        </p:spPr>
      </p:pic>
      <p:sp>
        <p:nvSpPr>
          <p:cNvPr id="311" name="Google Shape;311;p49"/>
          <p:cNvSpPr txBox="1"/>
          <p:nvPr/>
        </p:nvSpPr>
        <p:spPr>
          <a:xfrm>
            <a:off x="627600" y="4886450"/>
            <a:ext cx="78888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latin typeface="Times New Roman"/>
                <a:ea typeface="Times New Roman"/>
                <a:cs typeface="Times New Roman"/>
                <a:sym typeface="Times New Roman"/>
              </a:rPr>
              <a:t>A</a:t>
            </a:r>
            <a:r>
              <a:rPr lang="en-US" sz="2000">
                <a:latin typeface="Times New Roman"/>
                <a:ea typeface="Times New Roman"/>
                <a:cs typeface="Times New Roman"/>
                <a:sym typeface="Times New Roman"/>
              </a:rPr>
              <a:t>n SBC is a complete computer built on a single board with an operating system. In robotics, SBCs are used for high-level tasks such as computer vision, AI inference, SLAM, and communication, often working alongside microcontrollers for low-level control.</a:t>
            </a:r>
            <a:endParaRPr sz="2000">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50"/>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Raspberry PI 4, Tinkerboard </a:t>
            </a:r>
            <a:endParaRPr/>
          </a:p>
        </p:txBody>
      </p:sp>
      <p:pic>
        <p:nvPicPr>
          <p:cNvPr descr="Amazon.com: Raspberry SC15184 Pi 4 Model B 2019 Quad Core 64 Bit WiFi  Bluetooth (2GB): Computers &amp; Accessories" id="317" name="Google Shape;317;p50"/>
          <p:cNvPicPr preferRelativeResize="0"/>
          <p:nvPr>
            <p:ph idx="1" type="body"/>
          </p:nvPr>
        </p:nvPicPr>
        <p:blipFill rotWithShape="1">
          <a:blip r:embed="rId3">
            <a:alphaModFix/>
          </a:blip>
          <a:srcRect b="0" l="0" r="0" t="0"/>
          <a:stretch/>
        </p:blipFill>
        <p:spPr>
          <a:xfrm>
            <a:off x="730775" y="1393610"/>
            <a:ext cx="4038600" cy="3278400"/>
          </a:xfrm>
          <a:prstGeom prst="rect">
            <a:avLst/>
          </a:prstGeom>
          <a:noFill/>
          <a:ln>
            <a:noFill/>
          </a:ln>
        </p:spPr>
      </p:pic>
      <p:pic>
        <p:nvPicPr>
          <p:cNvPr descr="Buy Asus Tinker Board With Rockchip Quad-Core RK3288 processor product name  With Best Lowest Price in Dhaka,bangladesh.bd" id="318" name="Google Shape;318;p50"/>
          <p:cNvPicPr preferRelativeResize="0"/>
          <p:nvPr>
            <p:ph idx="2" type="body"/>
          </p:nvPr>
        </p:nvPicPr>
        <p:blipFill rotWithShape="1">
          <a:blip r:embed="rId4">
            <a:alphaModFix/>
          </a:blip>
          <a:srcRect b="0" l="0" r="0" t="0"/>
          <a:stretch/>
        </p:blipFill>
        <p:spPr>
          <a:xfrm>
            <a:off x="5072675" y="1393599"/>
            <a:ext cx="3278400" cy="3278400"/>
          </a:xfrm>
          <a:prstGeom prst="rect">
            <a:avLst/>
          </a:prstGeom>
          <a:noFill/>
          <a:ln>
            <a:noFill/>
          </a:ln>
        </p:spPr>
      </p:pic>
      <p:sp>
        <p:nvSpPr>
          <p:cNvPr id="319" name="Google Shape;319;p50"/>
          <p:cNvSpPr txBox="1"/>
          <p:nvPr/>
        </p:nvSpPr>
        <p:spPr>
          <a:xfrm>
            <a:off x="292425" y="4782675"/>
            <a:ext cx="89076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Raspberry Pi</a:t>
            </a:r>
            <a:r>
              <a:rPr lang="en-US" sz="2000">
                <a:solidFill>
                  <a:schemeClr val="dk1"/>
                </a:solidFill>
                <a:latin typeface="Times New Roman"/>
                <a:ea typeface="Times New Roman"/>
                <a:cs typeface="Times New Roman"/>
                <a:sym typeface="Times New Roman"/>
              </a:rPr>
              <a:t>: Use when you need </a:t>
            </a:r>
            <a:r>
              <a:rPr b="1" lang="en-US" sz="2000">
                <a:solidFill>
                  <a:schemeClr val="dk1"/>
                </a:solidFill>
                <a:latin typeface="Times New Roman"/>
                <a:ea typeface="Times New Roman"/>
                <a:cs typeface="Times New Roman"/>
                <a:sym typeface="Times New Roman"/>
              </a:rPr>
              <a:t>general-purpose computing</a:t>
            </a:r>
            <a:r>
              <a:rPr lang="en-US" sz="2000">
                <a:solidFill>
                  <a:schemeClr val="dk1"/>
                </a:solidFill>
                <a:latin typeface="Times New Roman"/>
                <a:ea typeface="Times New Roman"/>
                <a:cs typeface="Times New Roman"/>
                <a:sym typeface="Times New Roman"/>
              </a:rPr>
              <a:t> and moderate robotics tasks like control, networking, and basic vision.</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ASUS Tinker Board</a:t>
            </a:r>
            <a:r>
              <a:rPr lang="en-US" sz="2000">
                <a:solidFill>
                  <a:schemeClr val="dk1"/>
                </a:solidFill>
                <a:latin typeface="Times New Roman"/>
                <a:ea typeface="Times New Roman"/>
                <a:cs typeface="Times New Roman"/>
                <a:sym typeface="Times New Roman"/>
              </a:rPr>
              <a:t>: Use when </a:t>
            </a:r>
            <a:r>
              <a:rPr b="1" lang="en-US" sz="2000">
                <a:solidFill>
                  <a:schemeClr val="dk1"/>
                </a:solidFill>
                <a:latin typeface="Times New Roman"/>
                <a:ea typeface="Times New Roman"/>
                <a:cs typeface="Times New Roman"/>
                <a:sym typeface="Times New Roman"/>
              </a:rPr>
              <a:t>higher CPU performance</a:t>
            </a:r>
            <a:r>
              <a:rPr lang="en-US" sz="2000">
                <a:solidFill>
                  <a:schemeClr val="dk1"/>
                </a:solidFill>
                <a:latin typeface="Times New Roman"/>
                <a:ea typeface="Times New Roman"/>
                <a:cs typeface="Times New Roman"/>
                <a:sym typeface="Times New Roman"/>
              </a:rPr>
              <a:t> and better multimedia handling than Raspberry Pi are needed.</a:t>
            </a:r>
            <a:br>
              <a:rPr lang="en-US"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51"/>
          <p:cNvSpPr txBox="1"/>
          <p:nvPr>
            <p:ph type="title"/>
          </p:nvPr>
        </p:nvSpPr>
        <p:spPr>
          <a:xfrm>
            <a:off x="457200" y="205979"/>
            <a:ext cx="8229600" cy="8577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t>Little Panda and Jetson nano</a:t>
            </a:r>
            <a:endParaRPr/>
          </a:p>
        </p:txBody>
      </p:sp>
      <p:pic>
        <p:nvPicPr>
          <p:cNvPr descr="Amazon.com: NVIDIA Jetson Nano Developer Kit: Computers &amp; Accessories" id="325" name="Google Shape;325;p51"/>
          <p:cNvPicPr preferRelativeResize="0"/>
          <p:nvPr>
            <p:ph idx="2" type="body"/>
          </p:nvPr>
        </p:nvPicPr>
        <p:blipFill rotWithShape="1">
          <a:blip r:embed="rId3">
            <a:alphaModFix/>
          </a:blip>
          <a:srcRect b="0" l="0" r="0" t="0"/>
          <a:stretch/>
        </p:blipFill>
        <p:spPr>
          <a:xfrm>
            <a:off x="5173151" y="1325999"/>
            <a:ext cx="3627000" cy="3015300"/>
          </a:xfrm>
          <a:prstGeom prst="rect">
            <a:avLst/>
          </a:prstGeom>
          <a:noFill/>
          <a:ln>
            <a:noFill/>
          </a:ln>
        </p:spPr>
      </p:pic>
      <p:pic>
        <p:nvPicPr>
          <p:cNvPr descr="Top 12 Raspberry Pi alternatives (Best of 2018) | ZDNet" id="326" name="Google Shape;326;p51"/>
          <p:cNvPicPr preferRelativeResize="0"/>
          <p:nvPr>
            <p:ph idx="1" type="body"/>
          </p:nvPr>
        </p:nvPicPr>
        <p:blipFill rotWithShape="1">
          <a:blip r:embed="rId4">
            <a:alphaModFix/>
          </a:blip>
          <a:srcRect b="0" l="0" r="0" t="0"/>
          <a:stretch/>
        </p:blipFill>
        <p:spPr>
          <a:xfrm>
            <a:off x="315700" y="1326000"/>
            <a:ext cx="4568400" cy="3015300"/>
          </a:xfrm>
          <a:prstGeom prst="rect">
            <a:avLst/>
          </a:prstGeom>
          <a:noFill/>
          <a:ln>
            <a:noFill/>
          </a:ln>
        </p:spPr>
      </p:pic>
      <p:sp>
        <p:nvSpPr>
          <p:cNvPr id="327" name="Google Shape;327;p51"/>
          <p:cNvSpPr txBox="1"/>
          <p:nvPr/>
        </p:nvSpPr>
        <p:spPr>
          <a:xfrm>
            <a:off x="325800" y="4792125"/>
            <a:ext cx="84924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Jetson Nano</a:t>
            </a:r>
            <a:r>
              <a:rPr lang="en-US" sz="2000">
                <a:solidFill>
                  <a:schemeClr val="dk1"/>
                </a:solidFill>
                <a:latin typeface="Times New Roman"/>
                <a:ea typeface="Times New Roman"/>
                <a:cs typeface="Times New Roman"/>
                <a:sym typeface="Times New Roman"/>
              </a:rPr>
              <a:t>: Use when robotics applications require </a:t>
            </a:r>
            <a:r>
              <a:rPr b="1" lang="en-US" sz="2000">
                <a:solidFill>
                  <a:schemeClr val="dk1"/>
                </a:solidFill>
                <a:latin typeface="Times New Roman"/>
                <a:ea typeface="Times New Roman"/>
                <a:cs typeface="Times New Roman"/>
                <a:sym typeface="Times New Roman"/>
              </a:rPr>
              <a:t>GPU acceleration</a:t>
            </a:r>
            <a:r>
              <a:rPr lang="en-US" sz="2000">
                <a:solidFill>
                  <a:schemeClr val="dk1"/>
                </a:solidFill>
                <a:latin typeface="Times New Roman"/>
                <a:ea typeface="Times New Roman"/>
                <a:cs typeface="Times New Roman"/>
                <a:sym typeface="Times New Roman"/>
              </a:rPr>
              <a:t> for AI, deep learning, and real-time computer vision.</a:t>
            </a:r>
            <a:br>
              <a:rPr lang="en-US" sz="2000">
                <a:solidFill>
                  <a:schemeClr val="dk1"/>
                </a:solidFill>
                <a:latin typeface="Times New Roman"/>
                <a:ea typeface="Times New Roman"/>
                <a:cs typeface="Times New Roman"/>
                <a:sym typeface="Times New Roman"/>
              </a:rPr>
            </a:b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US" sz="2000">
                <a:solidFill>
                  <a:schemeClr val="dk1"/>
                </a:solidFill>
                <a:latin typeface="Times New Roman"/>
                <a:ea typeface="Times New Roman"/>
                <a:cs typeface="Times New Roman"/>
                <a:sym typeface="Times New Roman"/>
              </a:rPr>
              <a:t>Littlepanda</a:t>
            </a:r>
            <a:r>
              <a:rPr lang="en-US" sz="2000">
                <a:solidFill>
                  <a:schemeClr val="dk1"/>
                </a:solidFill>
                <a:latin typeface="Times New Roman"/>
                <a:ea typeface="Times New Roman"/>
                <a:cs typeface="Times New Roman"/>
                <a:sym typeface="Times New Roman"/>
              </a:rPr>
              <a:t>: Use when </a:t>
            </a:r>
            <a:r>
              <a:rPr b="1" lang="en-US" sz="2000">
                <a:solidFill>
                  <a:schemeClr val="dk1"/>
                </a:solidFill>
                <a:latin typeface="Times New Roman"/>
                <a:ea typeface="Times New Roman"/>
                <a:cs typeface="Times New Roman"/>
                <a:sym typeface="Times New Roman"/>
              </a:rPr>
              <a:t>compact size and basic SBC functionality</a:t>
            </a:r>
            <a:r>
              <a:rPr lang="en-US" sz="2000">
                <a:solidFill>
                  <a:schemeClr val="dk1"/>
                </a:solidFill>
                <a:latin typeface="Times New Roman"/>
                <a:ea typeface="Times New Roman"/>
                <a:cs typeface="Times New Roman"/>
                <a:sym typeface="Times New Roman"/>
              </a:rPr>
              <a:t> are sufficient for simple embedded or educational robotics projects.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graphicFrame>
        <p:nvGraphicFramePr>
          <p:cNvPr id="332" name="Google Shape;332;p52"/>
          <p:cNvGraphicFramePr/>
          <p:nvPr/>
        </p:nvGraphicFramePr>
        <p:xfrm>
          <a:off x="480825" y="645313"/>
          <a:ext cx="3000000" cy="3000000"/>
        </p:xfrm>
        <a:graphic>
          <a:graphicData uri="http://schemas.openxmlformats.org/drawingml/2006/table">
            <a:tbl>
              <a:tblPr>
                <a:noFill/>
                <a:tableStyleId>{DC068522-B7C6-41B1-AC42-EDB982F6AFDB}</a:tableStyleId>
              </a:tblPr>
              <a:tblGrid>
                <a:gridCol w="1925625"/>
                <a:gridCol w="3161375"/>
                <a:gridCol w="3095350"/>
              </a:tblGrid>
              <a:tr h="415500">
                <a:tc>
                  <a:txBody>
                    <a:bodyPr/>
                    <a:lstStyle/>
                    <a:p>
                      <a:pPr indent="0" lvl="0" marL="0" rtl="0" algn="ctr">
                        <a:lnSpc>
                          <a:spcPct val="115000"/>
                        </a:lnSpc>
                        <a:spcBef>
                          <a:spcPts val="0"/>
                        </a:spcBef>
                        <a:spcAft>
                          <a:spcPts val="0"/>
                        </a:spcAft>
                        <a:buNone/>
                      </a:pPr>
                      <a:r>
                        <a:rPr b="1" lang="en-US" sz="1600"/>
                        <a:t>Feature</a:t>
                      </a:r>
                      <a:endParaRPr b="1" sz="1600"/>
                    </a:p>
                  </a:txBody>
                  <a:tcPr marT="91425" marB="91425" marR="91425" marL="91425"/>
                </a:tc>
                <a:tc>
                  <a:txBody>
                    <a:bodyPr/>
                    <a:lstStyle/>
                    <a:p>
                      <a:pPr indent="0" lvl="0" marL="0" rtl="0" algn="ctr">
                        <a:lnSpc>
                          <a:spcPct val="115000"/>
                        </a:lnSpc>
                        <a:spcBef>
                          <a:spcPts val="0"/>
                        </a:spcBef>
                        <a:spcAft>
                          <a:spcPts val="0"/>
                        </a:spcAft>
                        <a:buNone/>
                      </a:pPr>
                      <a:r>
                        <a:rPr b="1" lang="en-US" sz="1600"/>
                        <a:t>Microcontroller</a:t>
                      </a:r>
                      <a:endParaRPr b="1" sz="1600"/>
                    </a:p>
                  </a:txBody>
                  <a:tcPr marT="91425" marB="91425" marR="91425" marL="91425"/>
                </a:tc>
                <a:tc>
                  <a:txBody>
                    <a:bodyPr/>
                    <a:lstStyle/>
                    <a:p>
                      <a:pPr indent="0" lvl="0" marL="0" rtl="0" algn="ctr">
                        <a:lnSpc>
                          <a:spcPct val="115000"/>
                        </a:lnSpc>
                        <a:spcBef>
                          <a:spcPts val="0"/>
                        </a:spcBef>
                        <a:spcAft>
                          <a:spcPts val="0"/>
                        </a:spcAft>
                        <a:buNone/>
                      </a:pPr>
                      <a:r>
                        <a:rPr b="1" lang="en-US" sz="1600"/>
                        <a:t>Microprocessor</a:t>
                      </a:r>
                      <a:endParaRPr b="1" sz="1600"/>
                    </a:p>
                  </a:txBody>
                  <a:tcPr marT="91425" marB="91425" marR="91425" marL="91425"/>
                </a:tc>
              </a:tr>
              <a:tr h="897425">
                <a:tc>
                  <a:txBody>
                    <a:bodyPr/>
                    <a:lstStyle/>
                    <a:p>
                      <a:pPr indent="0" lvl="0" marL="0" rtl="0" algn="l">
                        <a:spcBef>
                          <a:spcPts val="0"/>
                        </a:spcBef>
                        <a:spcAft>
                          <a:spcPts val="0"/>
                        </a:spcAft>
                        <a:buNone/>
                      </a:pPr>
                      <a:r>
                        <a:rPr b="1" lang="en-US"/>
                        <a:t>Integration</a:t>
                      </a:r>
                      <a:endParaRPr b="1"/>
                    </a:p>
                  </a:txBody>
                  <a:tcPr marT="91425" marB="91425" marR="91425" marL="91425"/>
                </a:tc>
                <a:tc>
                  <a:txBody>
                    <a:bodyPr/>
                    <a:lstStyle/>
                    <a:p>
                      <a:pPr indent="0" lvl="0" marL="0" rtl="0" algn="l">
                        <a:spcBef>
                          <a:spcPts val="0"/>
                        </a:spcBef>
                        <a:spcAft>
                          <a:spcPts val="0"/>
                        </a:spcAft>
                        <a:buNone/>
                      </a:pPr>
                      <a:r>
                        <a:rPr lang="en-US"/>
                        <a:t>Includes CPU, memory (RAM/ROM), and peripherals on a single chip</a:t>
                      </a:r>
                      <a:endParaRPr/>
                    </a:p>
                  </a:txBody>
                  <a:tcPr marT="91425" marB="91425" marR="91425" marL="91425"/>
                </a:tc>
                <a:tc>
                  <a:txBody>
                    <a:bodyPr/>
                    <a:lstStyle/>
                    <a:p>
                      <a:pPr indent="0" lvl="0" marL="0" rtl="0" algn="l">
                        <a:spcBef>
                          <a:spcPts val="0"/>
                        </a:spcBef>
                        <a:spcAft>
                          <a:spcPts val="0"/>
                        </a:spcAft>
                        <a:buNone/>
                      </a:pPr>
                      <a:r>
                        <a:rPr lang="en-US"/>
                        <a:t>Consists mainly of CPU; external memory and peripherals are required</a:t>
                      </a:r>
                      <a:endParaRPr/>
                    </a:p>
                  </a:txBody>
                  <a:tcPr marT="91425" marB="91425" marR="91425" marL="91425"/>
                </a:tc>
              </a:tr>
              <a:tr h="897425">
                <a:tc>
                  <a:txBody>
                    <a:bodyPr/>
                    <a:lstStyle/>
                    <a:p>
                      <a:pPr indent="0" lvl="0" marL="0" rtl="0" algn="l">
                        <a:spcBef>
                          <a:spcPts val="0"/>
                        </a:spcBef>
                        <a:spcAft>
                          <a:spcPts val="0"/>
                        </a:spcAft>
                        <a:buNone/>
                      </a:pPr>
                      <a:r>
                        <a:rPr b="1" lang="en-US"/>
                        <a:t>Cost</a:t>
                      </a:r>
                      <a:endParaRPr b="1"/>
                    </a:p>
                  </a:txBody>
                  <a:tcPr marT="91425" marB="91425" marR="91425" marL="91425"/>
                </a:tc>
                <a:tc>
                  <a:txBody>
                    <a:bodyPr/>
                    <a:lstStyle/>
                    <a:p>
                      <a:pPr indent="0" lvl="0" marL="0" rtl="0" algn="l">
                        <a:spcBef>
                          <a:spcPts val="0"/>
                        </a:spcBef>
                        <a:spcAft>
                          <a:spcPts val="0"/>
                        </a:spcAft>
                        <a:buNone/>
                      </a:pPr>
                      <a:r>
                        <a:rPr lang="en-US"/>
                        <a:t>Low cost due to high integration</a:t>
                      </a:r>
                      <a:endParaRPr/>
                    </a:p>
                  </a:txBody>
                  <a:tcPr marT="91425" marB="91425" marR="91425" marL="91425"/>
                </a:tc>
                <a:tc>
                  <a:txBody>
                    <a:bodyPr/>
                    <a:lstStyle/>
                    <a:p>
                      <a:pPr indent="0" lvl="0" marL="0" rtl="0" algn="l">
                        <a:spcBef>
                          <a:spcPts val="0"/>
                        </a:spcBef>
                        <a:spcAft>
                          <a:spcPts val="0"/>
                        </a:spcAft>
                        <a:buNone/>
                      </a:pPr>
                      <a:r>
                        <a:rPr lang="en-US"/>
                        <a:t>Higher cost because of additional external components</a:t>
                      </a:r>
                      <a:endParaRPr/>
                    </a:p>
                  </a:txBody>
                  <a:tcPr marT="91425" marB="91425" marR="91425" marL="91425"/>
                </a:tc>
              </a:tr>
              <a:tr h="897425">
                <a:tc>
                  <a:txBody>
                    <a:bodyPr/>
                    <a:lstStyle/>
                    <a:p>
                      <a:pPr indent="0" lvl="0" marL="0" rtl="0" algn="l">
                        <a:spcBef>
                          <a:spcPts val="0"/>
                        </a:spcBef>
                        <a:spcAft>
                          <a:spcPts val="0"/>
                        </a:spcAft>
                        <a:buNone/>
                      </a:pPr>
                      <a:r>
                        <a:rPr b="1" lang="en-US"/>
                        <a:t>Power Consumption</a:t>
                      </a:r>
                      <a:endParaRPr b="1"/>
                    </a:p>
                  </a:txBody>
                  <a:tcPr marT="91425" marB="91425" marR="91425" marL="91425"/>
                </a:tc>
                <a:tc>
                  <a:txBody>
                    <a:bodyPr/>
                    <a:lstStyle/>
                    <a:p>
                      <a:pPr indent="0" lvl="0" marL="0" rtl="0" algn="l">
                        <a:spcBef>
                          <a:spcPts val="0"/>
                        </a:spcBef>
                        <a:spcAft>
                          <a:spcPts val="0"/>
                        </a:spcAft>
                        <a:buNone/>
                      </a:pPr>
                      <a:r>
                        <a:rPr lang="en-US"/>
                        <a:t>Low power consumption, suitable for embedded systems</a:t>
                      </a:r>
                      <a:endParaRPr/>
                    </a:p>
                  </a:txBody>
                  <a:tcPr marT="91425" marB="91425" marR="91425" marL="91425"/>
                </a:tc>
                <a:tc>
                  <a:txBody>
                    <a:bodyPr/>
                    <a:lstStyle/>
                    <a:p>
                      <a:pPr indent="0" lvl="0" marL="0" rtl="0" algn="l">
                        <a:spcBef>
                          <a:spcPts val="0"/>
                        </a:spcBef>
                        <a:spcAft>
                          <a:spcPts val="0"/>
                        </a:spcAft>
                        <a:buNone/>
                      </a:pPr>
                      <a:r>
                        <a:rPr lang="en-US"/>
                        <a:t>Higher power consumption</a:t>
                      </a:r>
                      <a:endParaRPr/>
                    </a:p>
                  </a:txBody>
                  <a:tcPr marT="91425" marB="91425" marR="91425" marL="91425"/>
                </a:tc>
              </a:tr>
              <a:tr h="897425">
                <a:tc>
                  <a:txBody>
                    <a:bodyPr/>
                    <a:lstStyle/>
                    <a:p>
                      <a:pPr indent="0" lvl="0" marL="0" rtl="0" algn="l">
                        <a:spcBef>
                          <a:spcPts val="0"/>
                        </a:spcBef>
                        <a:spcAft>
                          <a:spcPts val="0"/>
                        </a:spcAft>
                        <a:buNone/>
                      </a:pPr>
                      <a:r>
                        <a:rPr b="1" lang="en-US"/>
                        <a:t>Application</a:t>
                      </a:r>
                      <a:endParaRPr b="1"/>
                    </a:p>
                  </a:txBody>
                  <a:tcPr marT="91425" marB="91425" marR="91425" marL="91425"/>
                </a:tc>
                <a:tc>
                  <a:txBody>
                    <a:bodyPr/>
                    <a:lstStyle/>
                    <a:p>
                      <a:pPr indent="0" lvl="0" marL="0" rtl="0" algn="l">
                        <a:spcBef>
                          <a:spcPts val="0"/>
                        </a:spcBef>
                        <a:spcAft>
                          <a:spcPts val="0"/>
                        </a:spcAft>
                        <a:buNone/>
                      </a:pPr>
                      <a:r>
                        <a:rPr lang="en-US"/>
                        <a:t>Used in dedicated control-oriented applications (e.g., appliances, IoT)</a:t>
                      </a:r>
                      <a:endParaRPr/>
                    </a:p>
                  </a:txBody>
                  <a:tcPr marT="91425" marB="91425" marR="91425" marL="91425"/>
                </a:tc>
                <a:tc>
                  <a:txBody>
                    <a:bodyPr/>
                    <a:lstStyle/>
                    <a:p>
                      <a:pPr indent="0" lvl="0" marL="0" rtl="0" algn="l">
                        <a:spcBef>
                          <a:spcPts val="0"/>
                        </a:spcBef>
                        <a:spcAft>
                          <a:spcPts val="0"/>
                        </a:spcAft>
                        <a:buNone/>
                      </a:pPr>
                      <a:r>
                        <a:rPr lang="en-US"/>
                        <a:t>Used in general-purpose computing (e.g., PCs, laptops)</a:t>
                      </a:r>
                      <a:endParaRPr/>
                    </a:p>
                  </a:txBody>
                  <a:tcPr marT="91425" marB="91425" marR="91425" marL="91425"/>
                </a:tc>
              </a:tr>
              <a:tr h="664750">
                <a:tc>
                  <a:txBody>
                    <a:bodyPr/>
                    <a:lstStyle/>
                    <a:p>
                      <a:pPr indent="0" lvl="0" marL="0" rtl="0" algn="l">
                        <a:spcBef>
                          <a:spcPts val="0"/>
                        </a:spcBef>
                        <a:spcAft>
                          <a:spcPts val="0"/>
                        </a:spcAft>
                        <a:buNone/>
                      </a:pPr>
                      <a:r>
                        <a:rPr b="1" lang="en-US"/>
                        <a:t>Complexity</a:t>
                      </a:r>
                      <a:endParaRPr b="1"/>
                    </a:p>
                  </a:txBody>
                  <a:tcPr marT="91425" marB="91425" marR="91425" marL="91425"/>
                </a:tc>
                <a:tc>
                  <a:txBody>
                    <a:bodyPr/>
                    <a:lstStyle/>
                    <a:p>
                      <a:pPr indent="0" lvl="0" marL="0" rtl="0" algn="l">
                        <a:spcBef>
                          <a:spcPts val="0"/>
                        </a:spcBef>
                        <a:spcAft>
                          <a:spcPts val="0"/>
                        </a:spcAft>
                        <a:buNone/>
                      </a:pPr>
                      <a:r>
                        <a:rPr lang="en-US"/>
                        <a:t>Simple hardware and software design</a:t>
                      </a:r>
                      <a:endParaRPr/>
                    </a:p>
                  </a:txBody>
                  <a:tcPr marT="91425" marB="91425" marR="91425" marL="91425"/>
                </a:tc>
                <a:tc>
                  <a:txBody>
                    <a:bodyPr/>
                    <a:lstStyle/>
                    <a:p>
                      <a:pPr indent="0" lvl="0" marL="0" rtl="0" algn="l">
                        <a:spcBef>
                          <a:spcPts val="0"/>
                        </a:spcBef>
                        <a:spcAft>
                          <a:spcPts val="0"/>
                        </a:spcAft>
                        <a:buNone/>
                      </a:pPr>
                      <a:r>
                        <a:rPr lang="en-US"/>
                        <a:t>More complex system design</a:t>
                      </a:r>
                      <a:endParaRPr/>
                    </a:p>
                  </a:txBody>
                  <a:tcPr marT="91425" marB="91425" marR="91425" marL="91425"/>
                </a:tc>
              </a:tr>
              <a:tr h="897425">
                <a:tc>
                  <a:txBody>
                    <a:bodyPr/>
                    <a:lstStyle/>
                    <a:p>
                      <a:pPr indent="0" lvl="0" marL="0" rtl="0" algn="l">
                        <a:spcBef>
                          <a:spcPts val="0"/>
                        </a:spcBef>
                        <a:spcAft>
                          <a:spcPts val="0"/>
                        </a:spcAft>
                        <a:buNone/>
                      </a:pPr>
                      <a:r>
                        <a:rPr b="1" lang="en-US"/>
                        <a:t>Real-time Control</a:t>
                      </a:r>
                      <a:endParaRPr b="1"/>
                    </a:p>
                  </a:txBody>
                  <a:tcPr marT="91425" marB="91425" marR="91425" marL="91425"/>
                </a:tc>
                <a:tc>
                  <a:txBody>
                    <a:bodyPr/>
                    <a:lstStyle/>
                    <a:p>
                      <a:pPr indent="0" lvl="0" marL="0" rtl="0" algn="l">
                        <a:spcBef>
                          <a:spcPts val="0"/>
                        </a:spcBef>
                        <a:spcAft>
                          <a:spcPts val="0"/>
                        </a:spcAft>
                        <a:buNone/>
                      </a:pPr>
                      <a:r>
                        <a:rPr lang="en-US"/>
                        <a:t>Well suited for real-time and deterministic tasks</a:t>
                      </a:r>
                      <a:endParaRPr/>
                    </a:p>
                  </a:txBody>
                  <a:tcPr marT="91425" marB="91425" marR="91425" marL="91425"/>
                </a:tc>
                <a:tc>
                  <a:txBody>
                    <a:bodyPr/>
                    <a:lstStyle/>
                    <a:p>
                      <a:pPr indent="0" lvl="0" marL="0" rtl="0" algn="l">
                        <a:spcBef>
                          <a:spcPts val="0"/>
                        </a:spcBef>
                        <a:spcAft>
                          <a:spcPts val="0"/>
                        </a:spcAft>
                        <a:buNone/>
                      </a:pPr>
                      <a:r>
                        <a:rPr lang="en-US"/>
                        <a:t>Less suitable for real-time control without additional hardware</a:t>
                      </a:r>
                      <a:endParaRPr/>
                    </a:p>
                  </a:txBody>
                  <a:tcPr marT="91425" marB="91425" marR="91425" marL="91425"/>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53"/>
          <p:cNvSpPr txBox="1"/>
          <p:nvPr>
            <p:ph type="title"/>
          </p:nvPr>
        </p:nvSpPr>
        <p:spPr>
          <a:xfrm>
            <a:off x="457200" y="280288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SzPts val="1800"/>
              <a:buNone/>
            </a:pPr>
            <a:r>
              <a:rPr lang="en-US"/>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