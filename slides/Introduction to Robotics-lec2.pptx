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7" roundtripDataSignature="AMtx7mhMqAi/RsEMX26UaoEv5pc2fdd5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95A430-353D-42E1-B1AD-C4F87EAF5C04}">
  <a:tblStyle styleId="{5995A430-353D-42E1-B1AD-C4F87EAF5C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customschemas.google.com/relationships/presentationmetadata" Target="meta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c21cebfdb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8c21cebfd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c21cebfdb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8c21cebf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1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c21cebfdb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8c21cebfd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c32104be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c32104b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c32104be3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c32104be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c32104be3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c32104be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32104be3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c32104be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c21cebfdb_0_18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8c21cebfdb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c21cebfdb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8c21cebfd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c21cebfdb_0_12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8c21cebfd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c32104be3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c32104be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c32104be3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c32104be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c32104be3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c32104be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c21cebfdb_0_4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8c21cebfd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1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8c21cebfdb_0_24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8c21cebfdb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c21cebfdb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8c21cebfdb_0_401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1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c32104be3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bc32104be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c32104be3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bc32104be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p1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p1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d3e8100f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bd3e8100f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1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p1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p1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7" name="Google Shape;387;p1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8c21cebfdb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8c21cebfd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8c21cebfd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8c21cebf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p1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8c21cebfd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g38c21cebfdb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8c21cebfdb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g38c21cebfdb_0_487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8c21cebfdb_0_491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8c21cebfdb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8c21cebfdb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7" name="Google Shape;427;g38c21cebfdb_0_498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8c21cebfdb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g38c21cebfdb_0_502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8c21cebfdb_0_50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38c21cebfdb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7" name="Google Shape;447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8c21cebfdb_0_51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38c21cebfdb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8c21cebfdb_0_72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8c21cebfdb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8c21cebfdb_0_52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8c21cebfdb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8c21cebfdb_0_52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38c21cebfdb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8c21cebfdb_0_53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8c21cebfdb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8c21cebfdb_0_7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g38c21cebfdb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8c21cebfdb_0_58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8c21cebfdb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8c21cebfdb_0_59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g38c21cebfdb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8c21cebfdb_0_1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g38c21cebfdb_0_1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g38c21cebfdb_0_111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8c21cebfdb_0_71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" name="Google Shape;38;g38c21cebfdb_0_718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8c21cebfdb_0_721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1" name="Google Shape;41;g38c21cebfdb_0_721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18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1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9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9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9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9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9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9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9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9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9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8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9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9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9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9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gif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6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3.jpg"/><Relationship Id="rId4" Type="http://schemas.openxmlformats.org/officeDocument/2006/relationships/image" Target="../media/image3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youtube.com/watch?v=fn3KWM1kuAw" TargetMode="External"/><Relationship Id="rId4" Type="http://schemas.openxmlformats.org/officeDocument/2006/relationships/image" Target="../media/image3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 to Robotics</a:t>
            </a:r>
            <a:br>
              <a:rPr lang="en-US"/>
            </a:br>
            <a:r>
              <a:rPr lang="en-US"/>
              <a:t>CSE461</a:t>
            </a:r>
            <a:endParaRPr/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BRAC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38c21cebfdb_0_6" title="Screenshot from 2025-10-13 20-50-3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75388"/>
            <a:ext cx="9144000" cy="570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27.jpg" id="105" name="Google Shape;105;p34"/>
          <p:cNvPicPr preferRelativeResize="0"/>
          <p:nvPr/>
        </p:nvPicPr>
        <p:blipFill rotWithShape="1">
          <a:blip r:embed="rId3">
            <a:alphaModFix/>
          </a:blip>
          <a:srcRect b="22376" l="3466" r="6040" t="23365"/>
          <a:stretch/>
        </p:blipFill>
        <p:spPr>
          <a:xfrm>
            <a:off x="516046" y="2009868"/>
            <a:ext cx="8274869" cy="37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Three primitives of robotics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c21cebfdb_0_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112" name="Google Shape;112;g38c21cebfdb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738" y="1995550"/>
            <a:ext cx="8628525" cy="2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5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A8CD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A8CDF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AI Primitives within an Agent</a:t>
            </a:r>
            <a:endParaRPr/>
          </a:p>
        </p:txBody>
      </p:sp>
      <p:sp>
        <p:nvSpPr>
          <p:cNvPr id="119" name="Google Shape;119;p145"/>
          <p:cNvSpPr/>
          <p:nvPr/>
        </p:nvSpPr>
        <p:spPr>
          <a:xfrm>
            <a:off x="914400" y="1828800"/>
            <a:ext cx="1828800" cy="129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5"/>
          <p:cNvSpPr/>
          <p:nvPr/>
        </p:nvSpPr>
        <p:spPr>
          <a:xfrm>
            <a:off x="3657600" y="1828800"/>
            <a:ext cx="1828800" cy="129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45"/>
          <p:cNvSpPr/>
          <p:nvPr/>
        </p:nvSpPr>
        <p:spPr>
          <a:xfrm>
            <a:off x="6400800" y="1828800"/>
            <a:ext cx="1828800" cy="129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Wide downward diagonal" id="122" name="Google Shape;122;p145"/>
          <p:cNvSpPr/>
          <p:nvPr/>
        </p:nvSpPr>
        <p:spPr>
          <a:xfrm>
            <a:off x="3657600" y="4191000"/>
            <a:ext cx="1828800" cy="1295400"/>
          </a:xfrm>
          <a:prstGeom prst="rect">
            <a:avLst/>
          </a:prstGeom>
          <a:solidFill>
            <a:srgbClr val="0070C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8c21cebfdb_0_32" title="paradig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7600" y="152400"/>
            <a:ext cx="4368801" cy="6553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c32104be3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Paradigm</a:t>
            </a:r>
            <a:endParaRPr/>
          </a:p>
        </p:txBody>
      </p:sp>
      <p:sp>
        <p:nvSpPr>
          <p:cNvPr id="133" name="Google Shape;133;g3bc32104be3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paradigm is a set of ideas, methods, and assumptions that guide how problems are understood and solved in a particular discipline.</a:t>
            </a:r>
            <a:endParaRPr sz="2000"/>
          </a:p>
          <a:p>
            <a:pPr indent="0" lvl="0" marL="45720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[Example] In </a:t>
            </a:r>
            <a:r>
              <a:rPr b="1" lang="en-US" sz="2000"/>
              <a:t>Science: </a:t>
            </a:r>
            <a:r>
              <a:rPr lang="en-US" sz="2000"/>
              <a:t>Newtonian Mechanics, Quantum Mechanics</a:t>
            </a:r>
            <a:br>
              <a:rPr lang="en-US" sz="2000"/>
            </a:br>
            <a:r>
              <a:rPr lang="en-US" sz="2000"/>
              <a:t>Each offers a different way to understand the physical world.</a:t>
            </a:r>
            <a:endParaRPr sz="2000"/>
          </a:p>
          <a:p>
            <a:pPr indent="0" lvl="0" marL="45720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When a paradigm changes, the way we think and build systems changes with it.</a:t>
            </a:r>
            <a:endParaRPr sz="20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c32104be3_0_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Classical / Hierarchical Paradigm</a:t>
            </a:r>
            <a:endParaRPr/>
          </a:p>
        </p:txBody>
      </p:sp>
      <p:sp>
        <p:nvSpPr>
          <p:cNvPr id="139" name="Google Shape;139;g3bc32104be3_0_8"/>
          <p:cNvSpPr txBox="1"/>
          <p:nvPr>
            <p:ph idx="1" type="body"/>
          </p:nvPr>
        </p:nvSpPr>
        <p:spPr>
          <a:xfrm>
            <a:off x="457200" y="1899525"/>
            <a:ext cx="8017800" cy="26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5755" lvl="0" marL="457200" rtl="0" algn="just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Also called Deliberative Paradigm</a:t>
            </a:r>
            <a:endParaRPr/>
          </a:p>
          <a:p>
            <a:pPr indent="0" lvl="0" marL="45720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just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Focus on automated reasoning and knowledge representation</a:t>
            </a:r>
            <a:endParaRPr/>
          </a:p>
          <a:p>
            <a:pPr indent="0" lvl="0" marL="45720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just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STRIPS (Stanford Research Institute Problem Solver): Perfect world model, closed world assumption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c32104be3_0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Classical / Hierarchical Paradigm</a:t>
            </a:r>
            <a:endParaRPr/>
          </a:p>
        </p:txBody>
      </p:sp>
      <p:pic>
        <p:nvPicPr>
          <p:cNvPr id="145" name="Google Shape;145;g3bc32104be3_0_16" title="Screenshot from 2026-01-29 18-13-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3773"/>
            <a:ext cx="9144000" cy="2332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bc32104be3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950" y="3864700"/>
            <a:ext cx="5643774" cy="282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bc32104be3_0_16"/>
          <p:cNvSpPr txBox="1"/>
          <p:nvPr/>
        </p:nvSpPr>
        <p:spPr>
          <a:xfrm>
            <a:off x="6039725" y="5024450"/>
            <a:ext cx="308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Developed by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Stanford AI Laboratory / CMU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(Hans Moravec)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c32104be3_0_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53" name="Google Shape;153;g3bc32104be3_0_26"/>
          <p:cNvSpPr txBox="1"/>
          <p:nvPr>
            <p:ph idx="1" type="body"/>
          </p:nvPr>
        </p:nvSpPr>
        <p:spPr>
          <a:xfrm>
            <a:off x="509250" y="141765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68300" lvl="0" marL="457200" rtl="0" algn="l">
              <a:spcBef>
                <a:spcPts val="36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/>
              <a:t>Take nine images of the environment, identify interesting points in one image, and use other images to obtain depth estimates.</a:t>
            </a:r>
            <a:endParaRPr sz="22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36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/>
              <a:t>Integrate information into global world model.</a:t>
            </a:r>
            <a:endParaRPr sz="22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36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/>
              <a:t>Correlate images with previous image set to estimate robot motion.</a:t>
            </a:r>
            <a:endParaRPr sz="22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36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/>
              <a:t>On basis of desired motion, estimated motion, and current estimate of environment, determine direction in which to move.</a:t>
            </a:r>
            <a:endParaRPr sz="22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36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/>
              <a:t>Execute the motion.</a:t>
            </a:r>
            <a:endParaRPr sz="22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g3bc32104be3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800" y="4550950"/>
            <a:ext cx="4345851" cy="217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g38c21cebfdb_0_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663" y="4"/>
            <a:ext cx="8578675" cy="6434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8c21cebfdb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9138" y="51850"/>
            <a:ext cx="5065724" cy="675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38c21cebfdb_0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7212" y="169288"/>
            <a:ext cx="4889576" cy="651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c32104be3_0_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Reactive Paradigm</a:t>
            </a:r>
            <a:endParaRPr/>
          </a:p>
        </p:txBody>
      </p:sp>
      <p:pic>
        <p:nvPicPr>
          <p:cNvPr id="175" name="Google Shape;175;g3bc32104be3_0_36" title="Screenshot from 2026-01-29 18-23-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163" y="1511588"/>
            <a:ext cx="8397667" cy="214226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bc32104be3_0_36"/>
          <p:cNvSpPr txBox="1"/>
          <p:nvPr/>
        </p:nvSpPr>
        <p:spPr>
          <a:xfrm>
            <a:off x="925450" y="3653850"/>
            <a:ext cx="7267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 models: The world is its own, best model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Easy successes, but also limitations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Investigate biological systems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c32104be3_0_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Characteristics of Reactive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Paradigm</a:t>
            </a:r>
            <a:endParaRPr/>
          </a:p>
        </p:txBody>
      </p:sp>
      <p:sp>
        <p:nvSpPr>
          <p:cNvPr id="182" name="Google Shape;182;g3bc32104be3_0_4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36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No memory, controlled by what is happening in the world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Tight coupling between perception and action via behaviors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A direct mapping of sensory inputs to a pattern of motor actions that are then used to achieve a task.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Only local, behavior-specific sensing is permitted</a:t>
            </a:r>
            <a:endParaRPr sz="22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183" name="Google Shape;183;g3bc32104be3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3429000"/>
            <a:ext cx="3994650" cy="3320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bc32104be3_0_49"/>
          <p:cNvSpPr txBox="1"/>
          <p:nvPr/>
        </p:nvSpPr>
        <p:spPr>
          <a:xfrm>
            <a:off x="4802525" y="3584850"/>
            <a:ext cx="4185600" cy="25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no memory, no global path, no map of the room. The robot only looks at the </a:t>
            </a: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sensor values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immediately responds.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the behavior becomes: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Wall appears → sensor triggers → robot turns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clears → robot moves forward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object appears → robot turns again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c32104be3_0_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</a:t>
            </a:r>
            <a:endParaRPr/>
          </a:p>
        </p:txBody>
      </p:sp>
      <p:sp>
        <p:nvSpPr>
          <p:cNvPr id="190" name="Google Shape;190;g3bc32104be3_0_63"/>
          <p:cNvSpPr txBox="1"/>
          <p:nvPr>
            <p:ph idx="1" type="body"/>
          </p:nvPr>
        </p:nvSpPr>
        <p:spPr>
          <a:xfrm>
            <a:off x="457200" y="1600200"/>
            <a:ext cx="8686800" cy="525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Suffer from local minima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Backtracking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Random motion to escape local minimum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g3bc32104be3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2150" y="2195523"/>
            <a:ext cx="4301625" cy="20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c21cebfdb_0_45"/>
          <p:cNvSpPr txBox="1"/>
          <p:nvPr>
            <p:ph type="title"/>
          </p:nvPr>
        </p:nvSpPr>
        <p:spPr>
          <a:xfrm>
            <a:off x="311700" y="4264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707"/>
              <a:buNone/>
            </a:pPr>
            <a:r>
              <a:rPr lang="en-US"/>
              <a:t>Reactive Paradigm </a:t>
            </a:r>
            <a:endParaRPr/>
          </a:p>
        </p:txBody>
      </p:sp>
      <p:pic>
        <p:nvPicPr>
          <p:cNvPr id="197" name="Google Shape;197;g38c21cebfdb_0_45" title="figure modified from [RM]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7603" y="2918917"/>
            <a:ext cx="4208800" cy="28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8c21cebfdb_0_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1013940"/>
            <a:ext cx="38100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1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A8CD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A8CDF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4" name="Google Shape;204;p151"/>
          <p:cNvGrpSpPr/>
          <p:nvPr/>
        </p:nvGrpSpPr>
        <p:grpSpPr>
          <a:xfrm>
            <a:off x="3886200" y="1066800"/>
            <a:ext cx="5257800" cy="6705600"/>
            <a:chOff x="2160" y="576"/>
            <a:chExt cx="3312" cy="4224"/>
          </a:xfrm>
        </p:grpSpPr>
        <p:pic>
          <p:nvPicPr>
            <p:cNvPr descr="autonomiclg" id="205" name="Google Shape;205;p1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60" y="576"/>
              <a:ext cx="3187" cy="4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151"/>
            <p:cNvSpPr/>
            <p:nvPr/>
          </p:nvSpPr>
          <p:spPr>
            <a:xfrm>
              <a:off x="2160" y="576"/>
              <a:ext cx="1962" cy="417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7" name="Google Shape;207;p151"/>
            <p:cNvSpPr/>
            <p:nvPr/>
          </p:nvSpPr>
          <p:spPr>
            <a:xfrm>
              <a:off x="3362" y="3803"/>
              <a:ext cx="2110" cy="99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8" name="Google Shape;208;p151"/>
            <p:cNvSpPr/>
            <p:nvPr/>
          </p:nvSpPr>
          <p:spPr>
            <a:xfrm>
              <a:off x="3425" y="576"/>
              <a:ext cx="1962" cy="3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09" name="Google Shape;209;p1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Reactive</a:t>
            </a:r>
            <a:endParaRPr/>
          </a:p>
        </p:txBody>
      </p:sp>
      <p:grpSp>
        <p:nvGrpSpPr>
          <p:cNvPr id="210" name="Google Shape;210;p151"/>
          <p:cNvGrpSpPr/>
          <p:nvPr/>
        </p:nvGrpSpPr>
        <p:grpSpPr>
          <a:xfrm>
            <a:off x="990600" y="1143000"/>
            <a:ext cx="4267200" cy="2559050"/>
            <a:chOff x="240" y="768"/>
            <a:chExt cx="4272" cy="2562"/>
          </a:xfrm>
        </p:grpSpPr>
        <p:sp>
          <p:nvSpPr>
            <p:cNvPr id="211" name="Google Shape;211;p151"/>
            <p:cNvSpPr/>
            <p:nvPr/>
          </p:nvSpPr>
          <p:spPr>
            <a:xfrm>
              <a:off x="1296" y="768"/>
              <a:ext cx="3216" cy="2562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12" name="Google Shape;212;p151"/>
            <p:cNvGrpSpPr/>
            <p:nvPr/>
          </p:nvGrpSpPr>
          <p:grpSpPr>
            <a:xfrm>
              <a:off x="1828" y="1040"/>
              <a:ext cx="2206" cy="517"/>
              <a:chOff x="1132" y="1262"/>
              <a:chExt cx="2206" cy="517"/>
            </a:xfrm>
          </p:grpSpPr>
          <p:sp>
            <p:nvSpPr>
              <p:cNvPr id="213" name="Google Shape;213;p151"/>
              <p:cNvSpPr/>
              <p:nvPr/>
            </p:nvSpPr>
            <p:spPr>
              <a:xfrm>
                <a:off x="2505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51"/>
              <p:cNvSpPr/>
              <p:nvPr/>
            </p:nvSpPr>
            <p:spPr>
              <a:xfrm>
                <a:off x="1132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SENSE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5" name="Google Shape;215;p151"/>
              <p:cNvCxnSpPr/>
              <p:nvPr/>
            </p:nvCxnSpPr>
            <p:spPr>
              <a:xfrm>
                <a:off x="1970" y="1501"/>
                <a:ext cx="531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grpSp>
          <p:nvGrpSpPr>
            <p:cNvPr id="216" name="Google Shape;216;p151"/>
            <p:cNvGrpSpPr/>
            <p:nvPr/>
          </p:nvGrpSpPr>
          <p:grpSpPr>
            <a:xfrm>
              <a:off x="1828" y="1808"/>
              <a:ext cx="2206" cy="517"/>
              <a:chOff x="1132" y="1262"/>
              <a:chExt cx="2206" cy="517"/>
            </a:xfrm>
          </p:grpSpPr>
          <p:sp>
            <p:nvSpPr>
              <p:cNvPr id="217" name="Google Shape;217;p151"/>
              <p:cNvSpPr/>
              <p:nvPr/>
            </p:nvSpPr>
            <p:spPr>
              <a:xfrm>
                <a:off x="2505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51"/>
              <p:cNvSpPr/>
              <p:nvPr/>
            </p:nvSpPr>
            <p:spPr>
              <a:xfrm>
                <a:off x="1132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SENSE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9" name="Google Shape;219;p151"/>
              <p:cNvCxnSpPr/>
              <p:nvPr/>
            </p:nvCxnSpPr>
            <p:spPr>
              <a:xfrm>
                <a:off x="1970" y="1501"/>
                <a:ext cx="531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grpSp>
          <p:nvGrpSpPr>
            <p:cNvPr id="220" name="Google Shape;220;p151"/>
            <p:cNvGrpSpPr/>
            <p:nvPr/>
          </p:nvGrpSpPr>
          <p:grpSpPr>
            <a:xfrm>
              <a:off x="1828" y="2576"/>
              <a:ext cx="2206" cy="517"/>
              <a:chOff x="1132" y="1262"/>
              <a:chExt cx="2206" cy="517"/>
            </a:xfrm>
          </p:grpSpPr>
          <p:sp>
            <p:nvSpPr>
              <p:cNvPr id="221" name="Google Shape;221;p151"/>
              <p:cNvSpPr/>
              <p:nvPr/>
            </p:nvSpPr>
            <p:spPr>
              <a:xfrm>
                <a:off x="2505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51"/>
              <p:cNvSpPr/>
              <p:nvPr/>
            </p:nvSpPr>
            <p:spPr>
              <a:xfrm>
                <a:off x="1132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SENSE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3" name="Google Shape;223;p151"/>
              <p:cNvCxnSpPr/>
              <p:nvPr/>
            </p:nvCxnSpPr>
            <p:spPr>
              <a:xfrm>
                <a:off x="1970" y="1501"/>
                <a:ext cx="531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sp>
          <p:nvSpPr>
            <p:cNvPr id="224" name="Google Shape;224;p151"/>
            <p:cNvSpPr/>
            <p:nvPr/>
          </p:nvSpPr>
          <p:spPr>
            <a:xfrm>
              <a:off x="240" y="1392"/>
              <a:ext cx="912" cy="64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PLAN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51"/>
            <p:cNvSpPr/>
            <p:nvPr/>
          </p:nvSpPr>
          <p:spPr>
            <a:xfrm>
              <a:off x="240" y="1296"/>
              <a:ext cx="960" cy="864"/>
            </a:xfrm>
            <a:custGeom>
              <a:rect b="b" l="l" r="r" t="t"/>
              <a:pathLst>
                <a:path extrusionOk="0" h="21600" w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8052" y="17304"/>
                  </a:moveTo>
                  <a:cubicBezTo>
                    <a:pt x="19655" y="15517"/>
                    <a:pt x="20542" y="13200"/>
                    <a:pt x="20542" y="10800"/>
                  </a:cubicBezTo>
                  <a:cubicBezTo>
                    <a:pt x="20542" y="5419"/>
                    <a:pt x="16180" y="1058"/>
                    <a:pt x="10800" y="1058"/>
                  </a:cubicBezTo>
                  <a:cubicBezTo>
                    <a:pt x="8399" y="1057"/>
                    <a:pt x="6082" y="1944"/>
                    <a:pt x="4295" y="3547"/>
                  </a:cubicBezTo>
                  <a:lnTo>
                    <a:pt x="18052" y="17304"/>
                  </a:lnTo>
                  <a:close/>
                  <a:moveTo>
                    <a:pt x="3547" y="4295"/>
                  </a:moveTo>
                  <a:cubicBezTo>
                    <a:pt x="1944" y="6082"/>
                    <a:pt x="1058" y="8399"/>
                    <a:pt x="1058" y="10799"/>
                  </a:cubicBezTo>
                  <a:cubicBezTo>
                    <a:pt x="1058" y="16180"/>
                    <a:pt x="5419" y="20542"/>
                    <a:pt x="10800" y="20542"/>
                  </a:cubicBezTo>
                  <a:cubicBezTo>
                    <a:pt x="13200" y="20542"/>
                    <a:pt x="15517" y="19655"/>
                    <a:pt x="17304" y="18052"/>
                  </a:cubicBezTo>
                  <a:lnTo>
                    <a:pt x="3547" y="4295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6" name="Google Shape;226;p151"/>
          <p:cNvSpPr txBox="1"/>
          <p:nvPr/>
        </p:nvSpPr>
        <p:spPr>
          <a:xfrm>
            <a:off x="1143000" y="3886200"/>
            <a:ext cx="4419600" cy="2647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loved it because it worked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people loved it, but wanted to put PLAN back 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people hated it because couldn’t rigorously prove it worked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51"/>
          <p:cNvSpPr/>
          <p:nvPr/>
        </p:nvSpPr>
        <p:spPr>
          <a:xfrm>
            <a:off x="6400800" y="1371600"/>
            <a:ext cx="274320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51"/>
          <p:cNvSpPr/>
          <p:nvPr/>
        </p:nvSpPr>
        <p:spPr>
          <a:xfrm>
            <a:off x="6565900" y="2209800"/>
            <a:ext cx="1587500" cy="2578100"/>
          </a:xfrm>
          <a:custGeom>
            <a:rect b="b" l="l" r="r" t="t"/>
            <a:pathLst>
              <a:path extrusionOk="0" h="1624" w="1000">
                <a:moveTo>
                  <a:pt x="552" y="0"/>
                </a:moveTo>
                <a:cubicBezTo>
                  <a:pt x="660" y="8"/>
                  <a:pt x="768" y="16"/>
                  <a:pt x="840" y="144"/>
                </a:cubicBezTo>
                <a:cubicBezTo>
                  <a:pt x="912" y="272"/>
                  <a:pt x="968" y="584"/>
                  <a:pt x="984" y="768"/>
                </a:cubicBezTo>
                <a:cubicBezTo>
                  <a:pt x="1000" y="952"/>
                  <a:pt x="976" y="1112"/>
                  <a:pt x="936" y="1248"/>
                </a:cubicBezTo>
                <a:cubicBezTo>
                  <a:pt x="896" y="1384"/>
                  <a:pt x="880" y="1544"/>
                  <a:pt x="744" y="1584"/>
                </a:cubicBezTo>
                <a:cubicBezTo>
                  <a:pt x="608" y="1624"/>
                  <a:pt x="240" y="1592"/>
                  <a:pt x="120" y="1488"/>
                </a:cubicBezTo>
                <a:cubicBezTo>
                  <a:pt x="0" y="1384"/>
                  <a:pt x="24" y="1160"/>
                  <a:pt x="24" y="960"/>
                </a:cubicBezTo>
                <a:cubicBezTo>
                  <a:pt x="24" y="760"/>
                  <a:pt x="56" y="448"/>
                  <a:pt x="120" y="288"/>
                </a:cubicBezTo>
                <a:cubicBezTo>
                  <a:pt x="184" y="128"/>
                  <a:pt x="360" y="48"/>
                  <a:pt x="408" y="0"/>
                </a:cubicBezTo>
              </a:path>
            </a:pathLst>
          </a:custGeom>
          <a:noFill/>
          <a:ln cap="flat" cmpd="sng" w="3810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7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A8CD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A8CDF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4" name="Google Shape;234;p147"/>
          <p:cNvGrpSpPr/>
          <p:nvPr/>
        </p:nvGrpSpPr>
        <p:grpSpPr>
          <a:xfrm>
            <a:off x="3733800" y="914400"/>
            <a:ext cx="5257800" cy="6705600"/>
            <a:chOff x="2160" y="576"/>
            <a:chExt cx="3312" cy="4224"/>
          </a:xfrm>
        </p:grpSpPr>
        <p:pic>
          <p:nvPicPr>
            <p:cNvPr descr="autonomiclg" id="235" name="Google Shape;235;p1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60" y="576"/>
              <a:ext cx="3187" cy="4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147"/>
            <p:cNvSpPr/>
            <p:nvPr/>
          </p:nvSpPr>
          <p:spPr>
            <a:xfrm>
              <a:off x="2160" y="576"/>
              <a:ext cx="1962" cy="417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p147"/>
            <p:cNvSpPr/>
            <p:nvPr/>
          </p:nvSpPr>
          <p:spPr>
            <a:xfrm>
              <a:off x="3362" y="3803"/>
              <a:ext cx="2110" cy="99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p147"/>
            <p:cNvSpPr/>
            <p:nvPr/>
          </p:nvSpPr>
          <p:spPr>
            <a:xfrm>
              <a:off x="3425" y="576"/>
              <a:ext cx="1962" cy="3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39" name="Google Shape;239;p1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Hierarchical/deliberative paradigm</a:t>
            </a:r>
            <a:endParaRPr/>
          </a:p>
        </p:txBody>
      </p:sp>
      <p:grpSp>
        <p:nvGrpSpPr>
          <p:cNvPr id="240" name="Google Shape;240;p147"/>
          <p:cNvGrpSpPr/>
          <p:nvPr/>
        </p:nvGrpSpPr>
        <p:grpSpPr>
          <a:xfrm>
            <a:off x="1066800" y="1535112"/>
            <a:ext cx="4191000" cy="1131888"/>
            <a:chOff x="1104" y="1200"/>
            <a:chExt cx="3552" cy="960"/>
          </a:xfrm>
        </p:grpSpPr>
        <p:sp>
          <p:nvSpPr>
            <p:cNvPr id="241" name="Google Shape;241;p147"/>
            <p:cNvSpPr/>
            <p:nvPr/>
          </p:nvSpPr>
          <p:spPr>
            <a:xfrm>
              <a:off x="1104" y="1200"/>
              <a:ext cx="3552" cy="96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42" name="Google Shape;242;p147"/>
            <p:cNvGrpSpPr/>
            <p:nvPr/>
          </p:nvGrpSpPr>
          <p:grpSpPr>
            <a:xfrm>
              <a:off x="1382" y="1392"/>
              <a:ext cx="2995" cy="538"/>
              <a:chOff x="1584" y="9062"/>
              <a:chExt cx="9072" cy="1738"/>
            </a:xfrm>
          </p:grpSpPr>
          <p:sp>
            <p:nvSpPr>
              <p:cNvPr id="243" name="Google Shape;243;p147"/>
              <p:cNvSpPr/>
              <p:nvPr/>
            </p:nvSpPr>
            <p:spPr>
              <a:xfrm>
                <a:off x="5373" y="9062"/>
                <a:ext cx="1778" cy="1175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PLAN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47"/>
              <p:cNvSpPr/>
              <p:nvPr/>
            </p:nvSpPr>
            <p:spPr>
              <a:xfrm>
                <a:off x="2443" y="9062"/>
                <a:ext cx="1778" cy="1175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SENSE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47"/>
              <p:cNvSpPr/>
              <p:nvPr/>
            </p:nvSpPr>
            <p:spPr>
              <a:xfrm>
                <a:off x="8302" y="9062"/>
                <a:ext cx="1778" cy="1175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6" name="Google Shape;246;p147"/>
              <p:cNvCxnSpPr/>
              <p:nvPr/>
            </p:nvCxnSpPr>
            <p:spPr>
              <a:xfrm>
                <a:off x="4230" y="9605"/>
                <a:ext cx="1134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247" name="Google Shape;247;p147"/>
              <p:cNvCxnSpPr/>
              <p:nvPr/>
            </p:nvCxnSpPr>
            <p:spPr>
              <a:xfrm>
                <a:off x="7160" y="9605"/>
                <a:ext cx="1134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248" name="Google Shape;248;p147"/>
              <p:cNvCxnSpPr/>
              <p:nvPr/>
            </p:nvCxnSpPr>
            <p:spPr>
              <a:xfrm>
                <a:off x="10089" y="9605"/>
                <a:ext cx="567" cy="0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9" name="Google Shape;249;p147"/>
              <p:cNvCxnSpPr/>
              <p:nvPr/>
            </p:nvCxnSpPr>
            <p:spPr>
              <a:xfrm>
                <a:off x="10656" y="9605"/>
                <a:ext cx="0" cy="1195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0" name="Google Shape;250;p147"/>
              <p:cNvCxnSpPr/>
              <p:nvPr/>
            </p:nvCxnSpPr>
            <p:spPr>
              <a:xfrm rot="10800000">
                <a:off x="1584" y="10800"/>
                <a:ext cx="9072" cy="0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1" name="Google Shape;251;p147"/>
              <p:cNvCxnSpPr/>
              <p:nvPr/>
            </p:nvCxnSpPr>
            <p:spPr>
              <a:xfrm>
                <a:off x="1584" y="9605"/>
                <a:ext cx="851" cy="0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ash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252" name="Google Shape;252;p147"/>
              <p:cNvCxnSpPr/>
              <p:nvPr/>
            </p:nvCxnSpPr>
            <p:spPr>
              <a:xfrm>
                <a:off x="1584" y="9605"/>
                <a:ext cx="0" cy="1195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253" name="Google Shape;253;p147"/>
          <p:cNvSpPr/>
          <p:nvPr/>
        </p:nvSpPr>
        <p:spPr>
          <a:xfrm>
            <a:off x="2809875" y="22669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4" name="Google Shape;254;p147"/>
          <p:cNvGrpSpPr/>
          <p:nvPr/>
        </p:nvGrpSpPr>
        <p:grpSpPr>
          <a:xfrm>
            <a:off x="6324600" y="1219200"/>
            <a:ext cx="1682750" cy="2590800"/>
            <a:chOff x="3984" y="768"/>
            <a:chExt cx="1060" cy="1632"/>
          </a:xfrm>
        </p:grpSpPr>
        <p:sp>
          <p:nvSpPr>
            <p:cNvPr id="255" name="Google Shape;255;p147"/>
            <p:cNvSpPr txBox="1"/>
            <p:nvPr/>
          </p:nvSpPr>
          <p:spPr>
            <a:xfrm>
              <a:off x="4368" y="912"/>
              <a:ext cx="244" cy="3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33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47"/>
            <p:cNvSpPr txBox="1"/>
            <p:nvPr/>
          </p:nvSpPr>
          <p:spPr>
            <a:xfrm>
              <a:off x="4752" y="768"/>
              <a:ext cx="244" cy="3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33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47"/>
            <p:cNvSpPr txBox="1"/>
            <p:nvPr/>
          </p:nvSpPr>
          <p:spPr>
            <a:xfrm>
              <a:off x="4800" y="1584"/>
              <a:ext cx="244" cy="3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33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8" name="Google Shape;258;p147"/>
            <p:cNvCxnSpPr/>
            <p:nvPr/>
          </p:nvCxnSpPr>
          <p:spPr>
            <a:xfrm>
              <a:off x="4080" y="1104"/>
              <a:ext cx="336" cy="0"/>
            </a:xfrm>
            <a:prstGeom prst="straightConnector1">
              <a:avLst/>
            </a:prstGeom>
            <a:noFill/>
            <a:ln cap="flat" cmpd="sng" w="57150">
              <a:solidFill>
                <a:srgbClr val="0033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9" name="Google Shape;259;p147"/>
            <p:cNvCxnSpPr/>
            <p:nvPr/>
          </p:nvCxnSpPr>
          <p:spPr>
            <a:xfrm flipH="1" rot="10800000">
              <a:off x="4560" y="960"/>
              <a:ext cx="240" cy="96"/>
            </a:xfrm>
            <a:prstGeom prst="straightConnector1">
              <a:avLst/>
            </a:prstGeom>
            <a:noFill/>
            <a:ln cap="flat" cmpd="sng" w="57150">
              <a:solidFill>
                <a:srgbClr val="0033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0" name="Google Shape;260;p147"/>
            <p:cNvCxnSpPr/>
            <p:nvPr/>
          </p:nvCxnSpPr>
          <p:spPr>
            <a:xfrm>
              <a:off x="4800" y="1152"/>
              <a:ext cx="96" cy="336"/>
            </a:xfrm>
            <a:prstGeom prst="straightConnector1">
              <a:avLst/>
            </a:prstGeom>
            <a:noFill/>
            <a:ln cap="flat" cmpd="sng" w="57150">
              <a:solidFill>
                <a:srgbClr val="0033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1" name="Google Shape;261;p147"/>
            <p:cNvCxnSpPr/>
            <p:nvPr/>
          </p:nvCxnSpPr>
          <p:spPr>
            <a:xfrm rot="10800000">
              <a:off x="3984" y="2400"/>
              <a:ext cx="288" cy="0"/>
            </a:xfrm>
            <a:prstGeom prst="straightConnector1">
              <a:avLst/>
            </a:prstGeom>
            <a:noFill/>
            <a:ln cap="flat" cmpd="sng" w="57150">
              <a:solidFill>
                <a:srgbClr val="0033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62" name="Google Shape;262;p147"/>
          <p:cNvSpPr txBox="1"/>
          <p:nvPr/>
        </p:nvSpPr>
        <p:spPr>
          <a:xfrm>
            <a:off x="1143000" y="3505200"/>
            <a:ext cx="4114800" cy="22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people hated because didn’t “close the loop”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people hated because monolithic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hated because very slow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47"/>
          <p:cNvSpPr/>
          <p:nvPr/>
        </p:nvSpPr>
        <p:spPr>
          <a:xfrm>
            <a:off x="3126732" y="3275112"/>
            <a:ext cx="28905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Hierarchical/deliberative paradigm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38c21cebfdb_0_2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2867" y="136813"/>
            <a:ext cx="4938275" cy="658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c21cebfdb_0_401"/>
          <p:cNvSpPr txBox="1"/>
          <p:nvPr>
            <p:ph type="title"/>
          </p:nvPr>
        </p:nvSpPr>
        <p:spPr>
          <a:xfrm>
            <a:off x="457200" y="205979"/>
            <a:ext cx="8229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/>
              <a:t>Hybrid deliberative/reactive paradigm</a:t>
            </a:r>
            <a:endParaRPr sz="3600"/>
          </a:p>
        </p:txBody>
      </p:sp>
      <p:grpSp>
        <p:nvGrpSpPr>
          <p:cNvPr id="274" name="Google Shape;274;g38c21cebfdb_0_401"/>
          <p:cNvGrpSpPr/>
          <p:nvPr/>
        </p:nvGrpSpPr>
        <p:grpSpPr>
          <a:xfrm>
            <a:off x="1030187" y="1344100"/>
            <a:ext cx="7083625" cy="4646900"/>
            <a:chOff x="1152" y="816"/>
            <a:chExt cx="3773" cy="2475"/>
          </a:xfrm>
        </p:grpSpPr>
        <p:grpSp>
          <p:nvGrpSpPr>
            <p:cNvPr id="275" name="Google Shape;275;g38c21cebfdb_0_401"/>
            <p:cNvGrpSpPr/>
            <p:nvPr/>
          </p:nvGrpSpPr>
          <p:grpSpPr>
            <a:xfrm>
              <a:off x="1152" y="2024"/>
              <a:ext cx="3389" cy="931"/>
              <a:chOff x="1152" y="2024"/>
              <a:chExt cx="3389" cy="931"/>
            </a:xfrm>
          </p:grpSpPr>
          <p:sp>
            <p:nvSpPr>
              <p:cNvPr id="276" name="Google Shape;276;g38c21cebfdb_0_401"/>
              <p:cNvSpPr/>
              <p:nvPr/>
            </p:nvSpPr>
            <p:spPr>
              <a:xfrm>
                <a:off x="1152" y="2024"/>
                <a:ext cx="3300" cy="900"/>
              </a:xfrm>
              <a:prstGeom prst="rect">
                <a:avLst/>
              </a:prstGeom>
              <a:solidFill>
                <a:schemeClr val="lt1"/>
              </a:solidFill>
              <a:ln cap="flat" cmpd="sng" w="33800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4050" lIns="108125" spcFirstLastPara="1" rIns="108125" wrap="square" tIns="540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38"/>
                  <a:buFont typeface="Arial"/>
                  <a:buNone/>
                </a:pPr>
                <a:r>
                  <a:t/>
                </a:r>
                <a:endParaRPr b="0" i="0" sz="283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77" name="Google Shape;277;g38c21cebfdb_0_401"/>
              <p:cNvGrpSpPr/>
              <p:nvPr/>
            </p:nvGrpSpPr>
            <p:grpSpPr>
              <a:xfrm>
                <a:off x="1248" y="2086"/>
                <a:ext cx="3293" cy="869"/>
                <a:chOff x="1132" y="1262"/>
                <a:chExt cx="2273" cy="600"/>
              </a:xfrm>
            </p:grpSpPr>
            <p:sp>
              <p:nvSpPr>
                <p:cNvPr id="278" name="Google Shape;278;g38c21cebfdb_0_401"/>
                <p:cNvSpPr/>
                <p:nvPr/>
              </p:nvSpPr>
              <p:spPr>
                <a:xfrm>
                  <a:off x="2505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654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" name="Google Shape;279;g38c21cebfdb_0_401"/>
                <p:cNvSpPr/>
                <p:nvPr/>
              </p:nvSpPr>
              <p:spPr>
                <a:xfrm>
                  <a:off x="1132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654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0" name="Google Shape;280;g38c21cebfdb_0_401"/>
                <p:cNvCxnSpPr/>
                <p:nvPr/>
              </p:nvCxnSpPr>
              <p:spPr>
                <a:xfrm>
                  <a:off x="1970" y="1501"/>
                  <a:ext cx="600" cy="0"/>
                </a:xfrm>
                <a:prstGeom prst="straightConnector1">
                  <a:avLst/>
                </a:prstGeom>
                <a:noFill/>
                <a:ln cap="flat" cmpd="sng" w="90125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  <p:sp>
          <p:nvSpPr>
            <p:cNvPr id="281" name="Google Shape;281;g38c21cebfdb_0_401"/>
            <p:cNvSpPr/>
            <p:nvPr/>
          </p:nvSpPr>
          <p:spPr>
            <a:xfrm>
              <a:off x="2256" y="816"/>
              <a:ext cx="1200" cy="600"/>
            </a:xfrm>
            <a:prstGeom prst="rect">
              <a:avLst/>
            </a:prstGeom>
            <a:noFill/>
            <a:ln cap="flat" cmpd="sng" w="150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4425" lIns="108900" spcFirstLastPara="1" rIns="108900" wrap="square" tIns="54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58"/>
                <a:buFont typeface="Arial"/>
                <a:buNone/>
              </a:pPr>
              <a:r>
                <a:rPr b="0" i="0" lang="en-US" sz="425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 </a:t>
              </a:r>
              <a:endParaRPr b="0" i="0" sz="165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" name="Google Shape;282;g38c21cebfdb_0_401"/>
            <p:cNvCxnSpPr/>
            <p:nvPr/>
          </p:nvCxnSpPr>
          <p:spPr>
            <a:xfrm>
              <a:off x="2832" y="1584"/>
              <a:ext cx="0" cy="300"/>
            </a:xfrm>
            <a:prstGeom prst="straightConnector1">
              <a:avLst/>
            </a:prstGeom>
            <a:noFill/>
            <a:ln cap="flat" cmpd="sng" w="901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283" name="Google Shape;283;g38c21cebfdb_0_401"/>
            <p:cNvGrpSpPr/>
            <p:nvPr/>
          </p:nvGrpSpPr>
          <p:grpSpPr>
            <a:xfrm>
              <a:off x="1344" y="2216"/>
              <a:ext cx="3389" cy="931"/>
              <a:chOff x="1152" y="2024"/>
              <a:chExt cx="3389" cy="931"/>
            </a:xfrm>
          </p:grpSpPr>
          <p:sp>
            <p:nvSpPr>
              <p:cNvPr id="284" name="Google Shape;284;g38c21cebfdb_0_401"/>
              <p:cNvSpPr/>
              <p:nvPr/>
            </p:nvSpPr>
            <p:spPr>
              <a:xfrm>
                <a:off x="1152" y="2024"/>
                <a:ext cx="3300" cy="900"/>
              </a:xfrm>
              <a:prstGeom prst="rect">
                <a:avLst/>
              </a:prstGeom>
              <a:solidFill>
                <a:schemeClr val="lt1"/>
              </a:solidFill>
              <a:ln cap="flat" cmpd="sng" w="33800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4050" lIns="108125" spcFirstLastPara="1" rIns="108125" wrap="square" tIns="540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38"/>
                  <a:buFont typeface="Arial"/>
                  <a:buNone/>
                </a:pPr>
                <a:r>
                  <a:t/>
                </a:r>
                <a:endParaRPr b="0" i="0" sz="283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85" name="Google Shape;285;g38c21cebfdb_0_401"/>
              <p:cNvGrpSpPr/>
              <p:nvPr/>
            </p:nvGrpSpPr>
            <p:grpSpPr>
              <a:xfrm>
                <a:off x="1248" y="2086"/>
                <a:ext cx="3293" cy="869"/>
                <a:chOff x="1132" y="1262"/>
                <a:chExt cx="2273" cy="600"/>
              </a:xfrm>
            </p:grpSpPr>
            <p:sp>
              <p:nvSpPr>
                <p:cNvPr id="286" name="Google Shape;286;g38c21cebfdb_0_401"/>
                <p:cNvSpPr/>
                <p:nvPr/>
              </p:nvSpPr>
              <p:spPr>
                <a:xfrm>
                  <a:off x="2505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654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" name="Google Shape;287;g38c21cebfdb_0_401"/>
                <p:cNvSpPr/>
                <p:nvPr/>
              </p:nvSpPr>
              <p:spPr>
                <a:xfrm>
                  <a:off x="1132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654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8" name="Google Shape;288;g38c21cebfdb_0_401"/>
                <p:cNvCxnSpPr/>
                <p:nvPr/>
              </p:nvCxnSpPr>
              <p:spPr>
                <a:xfrm>
                  <a:off x="1970" y="1501"/>
                  <a:ext cx="600" cy="0"/>
                </a:xfrm>
                <a:prstGeom prst="straightConnector1">
                  <a:avLst/>
                </a:prstGeom>
                <a:noFill/>
                <a:ln cap="flat" cmpd="sng" w="90125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  <p:grpSp>
          <p:nvGrpSpPr>
            <p:cNvPr id="289" name="Google Shape;289;g38c21cebfdb_0_401"/>
            <p:cNvGrpSpPr/>
            <p:nvPr/>
          </p:nvGrpSpPr>
          <p:grpSpPr>
            <a:xfrm>
              <a:off x="1536" y="2360"/>
              <a:ext cx="3389" cy="931"/>
              <a:chOff x="1152" y="2024"/>
              <a:chExt cx="3389" cy="931"/>
            </a:xfrm>
          </p:grpSpPr>
          <p:sp>
            <p:nvSpPr>
              <p:cNvPr id="290" name="Google Shape;290;g38c21cebfdb_0_401"/>
              <p:cNvSpPr/>
              <p:nvPr/>
            </p:nvSpPr>
            <p:spPr>
              <a:xfrm>
                <a:off x="1152" y="2024"/>
                <a:ext cx="3300" cy="900"/>
              </a:xfrm>
              <a:prstGeom prst="rect">
                <a:avLst/>
              </a:prstGeom>
              <a:solidFill>
                <a:schemeClr val="lt1"/>
              </a:solidFill>
              <a:ln cap="flat" cmpd="sng" w="33800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4050" lIns="108125" spcFirstLastPara="1" rIns="108125" wrap="square" tIns="540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38"/>
                  <a:buFont typeface="Arial"/>
                  <a:buNone/>
                </a:pPr>
                <a:r>
                  <a:t/>
                </a:r>
                <a:endParaRPr b="0" i="0" sz="283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91" name="Google Shape;291;g38c21cebfdb_0_401"/>
              <p:cNvGrpSpPr/>
              <p:nvPr/>
            </p:nvGrpSpPr>
            <p:grpSpPr>
              <a:xfrm>
                <a:off x="1248" y="2086"/>
                <a:ext cx="3293" cy="869"/>
                <a:chOff x="1132" y="1262"/>
                <a:chExt cx="2273" cy="600"/>
              </a:xfrm>
            </p:grpSpPr>
            <p:sp>
              <p:nvSpPr>
                <p:cNvPr id="292" name="Google Shape;292;g38c21cebfdb_0_401"/>
                <p:cNvSpPr/>
                <p:nvPr/>
              </p:nvSpPr>
              <p:spPr>
                <a:xfrm>
                  <a:off x="2505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654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3" name="Google Shape;293;g38c21cebfdb_0_401"/>
                <p:cNvSpPr/>
                <p:nvPr/>
              </p:nvSpPr>
              <p:spPr>
                <a:xfrm>
                  <a:off x="1132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654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4" name="Google Shape;294;g38c21cebfdb_0_401"/>
                <p:cNvCxnSpPr/>
                <p:nvPr/>
              </p:nvCxnSpPr>
              <p:spPr>
                <a:xfrm>
                  <a:off x="1970" y="1501"/>
                  <a:ext cx="600" cy="0"/>
                </a:xfrm>
                <a:prstGeom prst="straightConnector1">
                  <a:avLst/>
                </a:prstGeom>
                <a:noFill/>
                <a:ln cap="flat" cmpd="sng" w="90125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5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A8CD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A8CDF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00" name="Google Shape;300;p155"/>
          <p:cNvGrpSpPr/>
          <p:nvPr/>
        </p:nvGrpSpPr>
        <p:grpSpPr>
          <a:xfrm>
            <a:off x="3733800" y="914400"/>
            <a:ext cx="5257800" cy="6705600"/>
            <a:chOff x="2160" y="576"/>
            <a:chExt cx="3312" cy="4224"/>
          </a:xfrm>
        </p:grpSpPr>
        <p:pic>
          <p:nvPicPr>
            <p:cNvPr descr="autonomiclg" id="301" name="Google Shape;301;p1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60" y="576"/>
              <a:ext cx="3187" cy="4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" name="Google Shape;302;p155"/>
            <p:cNvSpPr/>
            <p:nvPr/>
          </p:nvSpPr>
          <p:spPr>
            <a:xfrm>
              <a:off x="2160" y="576"/>
              <a:ext cx="1962" cy="417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3" name="Google Shape;303;p155"/>
            <p:cNvSpPr/>
            <p:nvPr/>
          </p:nvSpPr>
          <p:spPr>
            <a:xfrm>
              <a:off x="3362" y="3803"/>
              <a:ext cx="2110" cy="99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4" name="Google Shape;304;p155"/>
            <p:cNvSpPr/>
            <p:nvPr/>
          </p:nvSpPr>
          <p:spPr>
            <a:xfrm>
              <a:off x="3425" y="576"/>
              <a:ext cx="1962" cy="3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05" name="Google Shape;305;p1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Hybrid </a:t>
            </a:r>
            <a:endParaRPr/>
          </a:p>
        </p:txBody>
      </p:sp>
      <p:sp>
        <p:nvSpPr>
          <p:cNvPr id="306" name="Google Shape;306;p155"/>
          <p:cNvSpPr/>
          <p:nvPr/>
        </p:nvSpPr>
        <p:spPr>
          <a:xfrm>
            <a:off x="2809875" y="22669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155"/>
          <p:cNvSpPr txBox="1"/>
          <p:nvPr/>
        </p:nvSpPr>
        <p:spPr>
          <a:xfrm>
            <a:off x="1143000" y="4041775"/>
            <a:ext cx="4114800" cy="22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people hated it because AI, but are getting over 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people loved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loved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" name="Google Shape;308;p155"/>
          <p:cNvGrpSpPr/>
          <p:nvPr/>
        </p:nvGrpSpPr>
        <p:grpSpPr>
          <a:xfrm>
            <a:off x="1524000" y="1449388"/>
            <a:ext cx="3657600" cy="2360612"/>
            <a:chOff x="1152" y="816"/>
            <a:chExt cx="3792" cy="2448"/>
          </a:xfrm>
        </p:grpSpPr>
        <p:grpSp>
          <p:nvGrpSpPr>
            <p:cNvPr id="309" name="Google Shape;309;p155"/>
            <p:cNvGrpSpPr/>
            <p:nvPr/>
          </p:nvGrpSpPr>
          <p:grpSpPr>
            <a:xfrm>
              <a:off x="1152" y="2024"/>
              <a:ext cx="3408" cy="904"/>
              <a:chOff x="1152" y="2024"/>
              <a:chExt cx="3408" cy="904"/>
            </a:xfrm>
          </p:grpSpPr>
          <p:sp>
            <p:nvSpPr>
              <p:cNvPr id="310" name="Google Shape;310;p155"/>
              <p:cNvSpPr/>
              <p:nvPr/>
            </p:nvSpPr>
            <p:spPr>
              <a:xfrm>
                <a:off x="1152" y="2024"/>
                <a:ext cx="3408" cy="904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311" name="Google Shape;311;p155"/>
              <p:cNvGrpSpPr/>
              <p:nvPr/>
            </p:nvGrpSpPr>
            <p:grpSpPr>
              <a:xfrm>
                <a:off x="1248" y="2086"/>
                <a:ext cx="3196" cy="749"/>
                <a:chOff x="1132" y="1262"/>
                <a:chExt cx="2206" cy="517"/>
              </a:xfrm>
            </p:grpSpPr>
            <p:sp>
              <p:nvSpPr>
                <p:cNvPr id="312" name="Google Shape;312;p155"/>
                <p:cNvSpPr/>
                <p:nvPr/>
              </p:nvSpPr>
              <p:spPr>
                <a:xfrm>
                  <a:off x="2505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" name="Google Shape;313;p155"/>
                <p:cNvSpPr/>
                <p:nvPr/>
              </p:nvSpPr>
              <p:spPr>
                <a:xfrm>
                  <a:off x="1132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4" name="Google Shape;314;p155"/>
                <p:cNvCxnSpPr/>
                <p:nvPr/>
              </p:nvCxnSpPr>
              <p:spPr>
                <a:xfrm>
                  <a:off x="1970" y="1501"/>
                  <a:ext cx="531" cy="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  <p:sp>
          <p:nvSpPr>
            <p:cNvPr id="315" name="Google Shape;315;p155"/>
            <p:cNvSpPr/>
            <p:nvPr/>
          </p:nvSpPr>
          <p:spPr>
            <a:xfrm>
              <a:off x="2256" y="816"/>
              <a:ext cx="1207" cy="749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025" lIns="92075" spcFirstLastPara="1" rIns="92075" wrap="square" tIns="46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6" name="Google Shape;316;p155"/>
            <p:cNvCxnSpPr/>
            <p:nvPr/>
          </p:nvCxnSpPr>
          <p:spPr>
            <a:xfrm>
              <a:off x="2832" y="1584"/>
              <a:ext cx="0" cy="336"/>
            </a:xfrm>
            <a:prstGeom prst="straightConnector1">
              <a:avLst/>
            </a:prstGeom>
            <a:noFill/>
            <a:ln cap="flat" cmpd="sng" w="444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317" name="Google Shape;317;p155"/>
            <p:cNvGrpSpPr/>
            <p:nvPr/>
          </p:nvGrpSpPr>
          <p:grpSpPr>
            <a:xfrm>
              <a:off x="1344" y="2216"/>
              <a:ext cx="3408" cy="904"/>
              <a:chOff x="1152" y="2024"/>
              <a:chExt cx="3408" cy="904"/>
            </a:xfrm>
          </p:grpSpPr>
          <p:sp>
            <p:nvSpPr>
              <p:cNvPr id="318" name="Google Shape;318;p155"/>
              <p:cNvSpPr/>
              <p:nvPr/>
            </p:nvSpPr>
            <p:spPr>
              <a:xfrm>
                <a:off x="1152" y="2024"/>
                <a:ext cx="3408" cy="904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319" name="Google Shape;319;p155"/>
              <p:cNvGrpSpPr/>
              <p:nvPr/>
            </p:nvGrpSpPr>
            <p:grpSpPr>
              <a:xfrm>
                <a:off x="1248" y="2086"/>
                <a:ext cx="3196" cy="749"/>
                <a:chOff x="1132" y="1262"/>
                <a:chExt cx="2206" cy="517"/>
              </a:xfrm>
            </p:grpSpPr>
            <p:sp>
              <p:nvSpPr>
                <p:cNvPr id="320" name="Google Shape;320;p155"/>
                <p:cNvSpPr/>
                <p:nvPr/>
              </p:nvSpPr>
              <p:spPr>
                <a:xfrm>
                  <a:off x="2505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" name="Google Shape;321;p155"/>
                <p:cNvSpPr/>
                <p:nvPr/>
              </p:nvSpPr>
              <p:spPr>
                <a:xfrm>
                  <a:off x="1132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2" name="Google Shape;322;p155"/>
                <p:cNvCxnSpPr/>
                <p:nvPr/>
              </p:nvCxnSpPr>
              <p:spPr>
                <a:xfrm>
                  <a:off x="1970" y="1501"/>
                  <a:ext cx="531" cy="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  <p:grpSp>
          <p:nvGrpSpPr>
            <p:cNvPr id="323" name="Google Shape;323;p155"/>
            <p:cNvGrpSpPr/>
            <p:nvPr/>
          </p:nvGrpSpPr>
          <p:grpSpPr>
            <a:xfrm>
              <a:off x="1536" y="2360"/>
              <a:ext cx="3408" cy="904"/>
              <a:chOff x="1152" y="2024"/>
              <a:chExt cx="3408" cy="904"/>
            </a:xfrm>
          </p:grpSpPr>
          <p:sp>
            <p:nvSpPr>
              <p:cNvPr id="324" name="Google Shape;324;p155"/>
              <p:cNvSpPr/>
              <p:nvPr/>
            </p:nvSpPr>
            <p:spPr>
              <a:xfrm>
                <a:off x="1152" y="2024"/>
                <a:ext cx="3408" cy="904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325" name="Google Shape;325;p155"/>
              <p:cNvGrpSpPr/>
              <p:nvPr/>
            </p:nvGrpSpPr>
            <p:grpSpPr>
              <a:xfrm>
                <a:off x="1248" y="2086"/>
                <a:ext cx="3196" cy="749"/>
                <a:chOff x="1132" y="1262"/>
                <a:chExt cx="2206" cy="517"/>
              </a:xfrm>
            </p:grpSpPr>
            <p:sp>
              <p:nvSpPr>
                <p:cNvPr id="326" name="Google Shape;326;p155"/>
                <p:cNvSpPr/>
                <p:nvPr/>
              </p:nvSpPr>
              <p:spPr>
                <a:xfrm>
                  <a:off x="2505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" name="Google Shape;327;p155"/>
                <p:cNvSpPr/>
                <p:nvPr/>
              </p:nvSpPr>
              <p:spPr>
                <a:xfrm>
                  <a:off x="1132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8" name="Google Shape;328;p155"/>
                <p:cNvCxnSpPr/>
                <p:nvPr/>
              </p:nvCxnSpPr>
              <p:spPr>
                <a:xfrm>
                  <a:off x="1970" y="1501"/>
                  <a:ext cx="531" cy="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</p:grpSp>
      <p:sp>
        <p:nvSpPr>
          <p:cNvPr id="329" name="Google Shape;329;p155"/>
          <p:cNvSpPr/>
          <p:nvPr/>
        </p:nvSpPr>
        <p:spPr>
          <a:xfrm>
            <a:off x="6553200" y="2057400"/>
            <a:ext cx="1587500" cy="2578100"/>
          </a:xfrm>
          <a:custGeom>
            <a:rect b="b" l="l" r="r" t="t"/>
            <a:pathLst>
              <a:path extrusionOk="0" h="1624" w="1000">
                <a:moveTo>
                  <a:pt x="552" y="0"/>
                </a:moveTo>
                <a:cubicBezTo>
                  <a:pt x="660" y="8"/>
                  <a:pt x="768" y="16"/>
                  <a:pt x="840" y="144"/>
                </a:cubicBezTo>
                <a:cubicBezTo>
                  <a:pt x="912" y="272"/>
                  <a:pt x="968" y="584"/>
                  <a:pt x="984" y="768"/>
                </a:cubicBezTo>
                <a:cubicBezTo>
                  <a:pt x="1000" y="952"/>
                  <a:pt x="976" y="1112"/>
                  <a:pt x="936" y="1248"/>
                </a:cubicBezTo>
                <a:cubicBezTo>
                  <a:pt x="896" y="1384"/>
                  <a:pt x="880" y="1544"/>
                  <a:pt x="744" y="1584"/>
                </a:cubicBezTo>
                <a:cubicBezTo>
                  <a:pt x="608" y="1624"/>
                  <a:pt x="240" y="1592"/>
                  <a:pt x="120" y="1488"/>
                </a:cubicBezTo>
                <a:cubicBezTo>
                  <a:pt x="0" y="1384"/>
                  <a:pt x="24" y="1160"/>
                  <a:pt x="24" y="960"/>
                </a:cubicBezTo>
                <a:cubicBezTo>
                  <a:pt x="24" y="760"/>
                  <a:pt x="56" y="448"/>
                  <a:pt x="120" y="288"/>
                </a:cubicBezTo>
                <a:cubicBezTo>
                  <a:pt x="184" y="128"/>
                  <a:pt x="360" y="48"/>
                  <a:pt x="408" y="0"/>
                </a:cubicBezTo>
              </a:path>
            </a:pathLst>
          </a:custGeom>
          <a:noFill/>
          <a:ln cap="flat" cmpd="sng" w="3810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55"/>
          <p:cNvSpPr/>
          <p:nvPr/>
        </p:nvSpPr>
        <p:spPr>
          <a:xfrm>
            <a:off x="6832600" y="1524000"/>
            <a:ext cx="1397000" cy="393700"/>
          </a:xfrm>
          <a:custGeom>
            <a:rect b="b" l="l" r="r" t="t"/>
            <a:pathLst>
              <a:path extrusionOk="0" h="600" w="880">
                <a:moveTo>
                  <a:pt x="256" y="592"/>
                </a:moveTo>
                <a:cubicBezTo>
                  <a:pt x="448" y="596"/>
                  <a:pt x="640" y="600"/>
                  <a:pt x="736" y="544"/>
                </a:cubicBezTo>
                <a:cubicBezTo>
                  <a:pt x="832" y="488"/>
                  <a:pt x="880" y="344"/>
                  <a:pt x="832" y="256"/>
                </a:cubicBezTo>
                <a:cubicBezTo>
                  <a:pt x="784" y="168"/>
                  <a:pt x="576" y="32"/>
                  <a:pt x="448" y="16"/>
                </a:cubicBezTo>
                <a:cubicBezTo>
                  <a:pt x="320" y="0"/>
                  <a:pt x="128" y="80"/>
                  <a:pt x="64" y="160"/>
                </a:cubicBezTo>
                <a:cubicBezTo>
                  <a:pt x="0" y="240"/>
                  <a:pt x="48" y="432"/>
                  <a:pt x="64" y="496"/>
                </a:cubicBezTo>
                <a:cubicBezTo>
                  <a:pt x="80" y="560"/>
                  <a:pt x="120" y="552"/>
                  <a:pt x="160" y="544"/>
                </a:cubicBezTo>
              </a:path>
            </a:pathLst>
          </a:custGeom>
          <a:noFill/>
          <a:ln cap="flat" cmpd="sng" w="3810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155"/>
          <p:cNvCxnSpPr/>
          <p:nvPr/>
        </p:nvCxnSpPr>
        <p:spPr>
          <a:xfrm>
            <a:off x="7543800" y="1752600"/>
            <a:ext cx="0" cy="533400"/>
          </a:xfrm>
          <a:prstGeom prst="straightConnector1">
            <a:avLst/>
          </a:prstGeom>
          <a:noFill/>
          <a:ln cap="flat" cmpd="sng" w="38100">
            <a:solidFill>
              <a:srgbClr val="003366"/>
            </a:solidFill>
            <a:prstDash val="dot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c32104be3_0_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Hybrid Deliberative/Reactive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Paradigm</a:t>
            </a:r>
            <a:endParaRPr/>
          </a:p>
        </p:txBody>
      </p:sp>
      <p:pic>
        <p:nvPicPr>
          <p:cNvPr id="337" name="Google Shape;337;g3bc32104be3_0_72" title="Screenshot from 2026-01-29 18-36-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1492124"/>
            <a:ext cx="6570075" cy="3285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bc32104be3_0_72"/>
          <p:cNvSpPr txBox="1"/>
          <p:nvPr/>
        </p:nvSpPr>
        <p:spPr>
          <a:xfrm>
            <a:off x="457200" y="4597975"/>
            <a:ext cx="6790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Combines advantages of previous paradigms: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World model used for planning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Closed loop, reactive control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c32104be3_0_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344" name="Google Shape;344;g3bc32104be3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600" y="3313200"/>
            <a:ext cx="4117400" cy="30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3bc32104be3_0_84"/>
          <p:cNvSpPr txBox="1"/>
          <p:nvPr/>
        </p:nvSpPr>
        <p:spPr>
          <a:xfrm>
            <a:off x="5026600" y="6347575"/>
            <a:ext cx="411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Go from the lab to the office.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bc32104be3_0_84"/>
          <p:cNvSpPr txBox="1"/>
          <p:nvPr/>
        </p:nvSpPr>
        <p:spPr>
          <a:xfrm>
            <a:off x="0" y="3429000"/>
            <a:ext cx="5981400" cy="3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the behavior looks like this: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Planner says: “Move toward the office.”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Sensors detect a chair blocking the way.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Reactive layer says: “Turn right now.”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avoiding the chair, control goes back to the planner.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robot continues toward the office.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why it is called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hybrid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Think globally, act locally.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planner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gives direction and purpose.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reactive system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handles real-time safety and obstacles.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bc32104be3_0_84"/>
          <p:cNvSpPr txBox="1"/>
          <p:nvPr/>
        </p:nvSpPr>
        <p:spPr>
          <a:xfrm>
            <a:off x="0" y="1120275"/>
            <a:ext cx="4572000" cy="24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it works: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Reactive Layer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moving, the robot continuously reads its sensors.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person suddenly walks in front of it, it does not stop and re-plan the whole route.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immediately slows down, turns slightly, and avoids the person.</a:t>
            </a:r>
            <a:endParaRPr/>
          </a:p>
        </p:txBody>
      </p:sp>
      <p:sp>
        <p:nvSpPr>
          <p:cNvPr id="348" name="Google Shape;348;g3bc32104be3_0_84"/>
          <p:cNvSpPr txBox="1"/>
          <p:nvPr/>
        </p:nvSpPr>
        <p:spPr>
          <a:xfrm>
            <a:off x="4481100" y="1549575"/>
            <a:ext cx="4955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Planning Layer (Deliberative)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robot has a map of the building.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computes a path: Lab → Corridor → Stair → Office.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layer answers </a:t>
            </a: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to go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Local and Global Model</a:t>
            </a:r>
            <a:endParaRPr/>
          </a:p>
        </p:txBody>
      </p:sp>
      <p:sp>
        <p:nvSpPr>
          <p:cNvPr id="354" name="Google Shape;354;p15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Reactive for Local control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Deliberative for Global control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However; Robot behavioral management requires to know its current mission, state and environment beside path-planning, map-making,  monitoring etc. So, both local and global models are required to be considered for a robot performance.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ROBOTIC PARADIGMS</a:t>
            </a:r>
            <a:endParaRPr/>
          </a:p>
        </p:txBody>
      </p:sp>
      <p:sp>
        <p:nvSpPr>
          <p:cNvPr id="360" name="Google Shape;360;p1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Hierarchical/deliberative paradigm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reactive paradigm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Hybrid </a:t>
            </a:r>
            <a:r>
              <a:rPr lang="en-US"/>
              <a:t>deliberative</a:t>
            </a:r>
            <a:r>
              <a:rPr lang="en-US"/>
              <a:t>/reactive paradigm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 fourth category, not always listed, is “Behavior-Based Control”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61" name="Google Shape;361;p146"/>
          <p:cNvSpPr/>
          <p:nvPr/>
        </p:nvSpPr>
        <p:spPr>
          <a:xfrm>
            <a:off x="2357727" y="5476052"/>
            <a:ext cx="41520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https://www.youtube.com/watch?v=dnidauuaWYU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6" name="Google Shape;366;g3bd3e8100fd_1_0"/>
          <p:cNvGraphicFramePr/>
          <p:nvPr/>
        </p:nvGraphicFramePr>
        <p:xfrm>
          <a:off x="311700" y="51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{5995A430-353D-42E1-B1AD-C4F87EAF5C04}</a:tableStyleId>
              </a:tblPr>
              <a:tblGrid>
                <a:gridCol w="2169200"/>
                <a:gridCol w="1967475"/>
                <a:gridCol w="2370900"/>
                <a:gridCol w="2013025"/>
              </a:tblGrid>
              <a:tr h="5001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Comparison of Robotic Paradigms</a:t>
                      </a:r>
                      <a:endParaRPr b="1" sz="1600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  <a:tr h="26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Aspect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Hierarchical 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Reactive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Hybrid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Core Philosophy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Think first, then act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Act immediately based on sensors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Think globally, act locally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S-P-A Coupling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Long planning phase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Direct mapping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Planner + Reactive loops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World Model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Explicit global model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 world model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Global + local models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Memory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Required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None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Partial (task &amp; map memory)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Planning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Centralized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 planning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High-level planning only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Reaction to dynamic changes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Very poor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Excellent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Excellent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Speed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Slow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Very fast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Balanced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Robustness to noise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Low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Medium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High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Local Obstacle Avoidance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Weak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Strong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Strong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Goal-Driven Behavior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Strong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Weak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Strong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Failure Mode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Freezes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Gets stuck in local minima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Graceful degradation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Real World Usability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Low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Medium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High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Examples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Early stage robots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Wall following robots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Autonomous cars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Advantages</a:t>
            </a:r>
            <a:endParaRPr/>
          </a:p>
        </p:txBody>
      </p:sp>
      <p:sp>
        <p:nvSpPr>
          <p:cNvPr id="372" name="Google Shape;372;p1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Asynchronous processing technique allow to function Independently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Planner can slowly computer next goal while robot can perform reactive task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First reactive updates then global panner for planning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Good software Modularity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Hierarchical/deliberative paradigm</a:t>
            </a:r>
            <a:endParaRPr/>
          </a:p>
        </p:txBody>
      </p:sp>
      <p:sp>
        <p:nvSpPr>
          <p:cNvPr id="378" name="Google Shape;378;p1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robot operates in a top-down fashion, heavy on planning.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robot senses the world, plans the next action, acts; at each step the robot explicitly plans the next move.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All the sensing data tends to be gathered into one global world model.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The reactive paradigm</a:t>
            </a:r>
            <a:endParaRPr/>
          </a:p>
        </p:txBody>
      </p:sp>
      <p:sp>
        <p:nvSpPr>
          <p:cNvPr id="384" name="Google Shape;384;p1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Sense-act type of organization.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robot has multiple instances of Sense-Act couplings.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Robot take the local sensing data and compute the best action to take independently of what the other processes are doing.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robot will do a combination of behaviours.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Hybrid deliberate/reactive paradigm</a:t>
            </a:r>
            <a:endParaRPr/>
          </a:p>
        </p:txBody>
      </p:sp>
      <p:sp>
        <p:nvSpPr>
          <p:cNvPr id="390" name="Google Shape;390;p15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176"/>
              <a:buChar char="•"/>
            </a:pPr>
            <a:r>
              <a:rPr lang="en-US"/>
              <a:t>The robot first plans (deliberates) how to best decompose a task into subtasks (also called “mission planning”) and then what are the suitable behaviours to accomplish each subtask.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176"/>
              <a:buChar char="•"/>
            </a:pPr>
            <a:r>
              <a:rPr lang="en-US"/>
              <a:t>Then the behaviours starts executing as per the Reactive Paradigm.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176"/>
              <a:buChar char="•"/>
            </a:pPr>
            <a:r>
              <a:rPr lang="en-US"/>
              <a:t>Sensing organization is also a mixture of Hierarchical and Reactive styles; sensor data gets routed to each behaviour that needs that sensor, but is also available to the planner for construction of a task-oriented global world model.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8c21cebfdb_0_17"/>
          <p:cNvSpPr txBox="1"/>
          <p:nvPr>
            <p:ph type="title"/>
          </p:nvPr>
        </p:nvSpPr>
        <p:spPr>
          <a:xfrm>
            <a:off x="776250" y="2840700"/>
            <a:ext cx="7591500" cy="11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Let’s know, How robots work?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g38c21cebfdb_0_0" title="breaki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1904" y="309013"/>
            <a:ext cx="4159974" cy="6239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Sub-Systems</a:t>
            </a:r>
            <a:endParaRPr/>
          </a:p>
        </p:txBody>
      </p:sp>
      <p:sp>
        <p:nvSpPr>
          <p:cNvPr id="406" name="Google Shape;406;p14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Sense/Perception/ Recognition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Plan/Control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Act/Motor Action/Motion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Power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Communication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28.jpg" id="411" name="Google Shape;411;g38c21cebfdb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39.jpg" id="416" name="Google Shape;416;g38c21cebfdb_0_4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088800" cy="681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8c21cebfdb_0_491"/>
          <p:cNvSpPr txBox="1"/>
          <p:nvPr>
            <p:ph type="title"/>
          </p:nvPr>
        </p:nvSpPr>
        <p:spPr>
          <a:xfrm>
            <a:off x="311700" y="489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-US"/>
              <a:t>Sensor</a:t>
            </a:r>
            <a:endParaRPr/>
          </a:p>
        </p:txBody>
      </p:sp>
      <p:sp>
        <p:nvSpPr>
          <p:cNvPr id="422" name="Google Shape;422;g38c21cebfdb_0_491"/>
          <p:cNvSpPr txBox="1"/>
          <p:nvPr>
            <p:ph idx="1" type="body"/>
          </p:nvPr>
        </p:nvSpPr>
        <p:spPr>
          <a:xfrm>
            <a:off x="368550" y="1463297"/>
            <a:ext cx="8406900" cy="25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/>
              <a:t>A sensor is a device that detects or measures physical, chemical, or biological properties of the environment or a system and converts them into a signal that can be processed or analyzed.</a:t>
            </a:r>
            <a:endParaRPr/>
          </a:p>
        </p:txBody>
      </p:sp>
      <p:pic>
        <p:nvPicPr>
          <p:cNvPr id="423" name="Google Shape;423;g38c21cebfdb_0_4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650" y="3902124"/>
            <a:ext cx="603885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8c21cebfdb_0_491"/>
          <p:cNvSpPr/>
          <p:nvPr/>
        </p:nvSpPr>
        <p:spPr>
          <a:xfrm>
            <a:off x="6308186" y="5897432"/>
            <a:ext cx="1530900" cy="72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1.jpg" id="429" name="Google Shape;429;g38c21cebfdb_0_4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2.jpg" id="434" name="Google Shape;434;g38c21cebfdb_0_5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g38c21cebfdb_0_5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488" y="365612"/>
            <a:ext cx="9182974" cy="612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3.jpg" id="444" name="Google Shape;44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4.jpg" id="449" name="Google Shape;44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g38c21cebfdb_0_5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88" y="397832"/>
            <a:ext cx="9086624" cy="5424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8c21cebfdb_0_724"/>
          <p:cNvSpPr txBox="1"/>
          <p:nvPr>
            <p:ph idx="1" type="body"/>
          </p:nvPr>
        </p:nvSpPr>
        <p:spPr>
          <a:xfrm>
            <a:off x="311700" y="7521022"/>
            <a:ext cx="59988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460" name="Google Shape;460;g38c21cebfdb_0_7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138" y="469968"/>
            <a:ext cx="8849724" cy="517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g38c21cebfdb_0_5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88" y="600400"/>
            <a:ext cx="9105024" cy="501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g38c21cebfdb_0_5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538" y="826650"/>
            <a:ext cx="8528924" cy="5204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8c21cebfdb_0_533"/>
          <p:cNvSpPr txBox="1"/>
          <p:nvPr>
            <p:ph idx="1" type="body"/>
          </p:nvPr>
        </p:nvSpPr>
        <p:spPr>
          <a:xfrm>
            <a:off x="598775" y="330675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Lidar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YDLIDAR X4 2D LiDAR Sensor" id="476" name="Google Shape;476;g38c21cebfdb_0_5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775" y="1553611"/>
            <a:ext cx="4796400" cy="375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g38c21cebfdb_0_5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6225" y="1660826"/>
            <a:ext cx="4647774" cy="353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g38c21cebfdb_0_789" title="Screenshot from 2025-10-13 21-45-0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979683"/>
            <a:ext cx="8991599" cy="4937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8c21cebfdb_0_58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Let’s talk about a dream !</a:t>
            </a:r>
            <a:endParaRPr/>
          </a:p>
        </p:txBody>
      </p:sp>
      <p:sp>
        <p:nvSpPr>
          <p:cNvPr id="488" name="Google Shape;488;g38c21cebfdb_0_585"/>
          <p:cNvSpPr txBox="1"/>
          <p:nvPr/>
        </p:nvSpPr>
        <p:spPr>
          <a:xfrm>
            <a:off x="2369200" y="4299900"/>
            <a:ext cx="451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https://www.youtube.com/watch?v=fn3KWM1kuAw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9" name="Google Shape;489;g38c21cebfdb_0_5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4325" y="788733"/>
            <a:ext cx="3635338" cy="184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8c21cebfdb_0_59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User</dc:creator>
</cp:coreProperties>
</file>