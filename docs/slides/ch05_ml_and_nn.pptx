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im7NE3IYudAOl6h6tV3lZH6WeJ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65E065-B79D-4174-98FF-03CA9F936A82}">
  <a:tblStyle styleId="{E465E065-B79D-4174-98FF-03CA9F936A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46975" y="2834125"/>
            <a:ext cx="89787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 Topic: Introduction to Machine Learning and Neural Network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0" y="0"/>
            <a:ext cx="13335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7" name="Google Shape;67;p3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8" name="Google Shape;68;p3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7" name="Google Shape;77;p4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8" name="Google Shape;78;p4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7" name="Google Shape;87;p5"/>
          <p:cNvCxnSpPr/>
          <p:nvPr/>
        </p:nvCxnSpPr>
        <p:spPr>
          <a:xfrm flipH="1" rot="10800000">
            <a:off x="1634750" y="4253400"/>
            <a:ext cx="6530100" cy="33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8" name="Google Shape;88;p5"/>
          <p:cNvSpPr/>
          <p:nvPr/>
        </p:nvSpPr>
        <p:spPr>
          <a:xfrm>
            <a:off x="20037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428625" y="4152750"/>
            <a:ext cx="246000" cy="234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9212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29075" y="4152750"/>
            <a:ext cx="246000" cy="2349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3099525" y="3985100"/>
            <a:ext cx="0" cy="5703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 txBox="1"/>
          <p:nvPr/>
        </p:nvSpPr>
        <p:spPr>
          <a:xfrm>
            <a:off x="2842275" y="4555400"/>
            <a:ext cx="51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6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7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8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8"/>
          <p:cNvSpPr txBox="1"/>
          <p:nvPr/>
        </p:nvSpPr>
        <p:spPr>
          <a:xfrm>
            <a:off x="158625" y="3215350"/>
            <a:ext cx="4189500" cy="120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9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9"/>
          <p:cNvSpPr txBox="1"/>
          <p:nvPr/>
        </p:nvSpPr>
        <p:spPr>
          <a:xfrm>
            <a:off x="158625" y="3215350"/>
            <a:ext cx="41895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0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10"/>
          <p:cNvSpPr txBox="1"/>
          <p:nvPr/>
        </p:nvSpPr>
        <p:spPr>
          <a:xfrm>
            <a:off x="158625" y="3215350"/>
            <a:ext cx="41895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0.9*10 + 0.1*50 = 9 + 5 = 14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0.9*2 + 0.1*30 = 1.8 + 3 = 4.8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0.9*1 + 0.1*45 = 0.9 + 4.5 = 5.4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0.9*5 + 0.1*40 = 4.5 + 4 = 8.5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" name="Google Shape;126;p10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7" name="Google Shape;127;p10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0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11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9" name="Google Shape;139;p11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0" name="Google Shape;140;p11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1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1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12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4" name="Google Shape;154;p12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55" name="Google Shape;155;p12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2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2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158625" y="3951550"/>
            <a:ext cx="4189500" cy="86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00" y="443100"/>
            <a:ext cx="4769826" cy="350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3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0" name="Google Shape;170;p13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71" name="Google Shape;171;p13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3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3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7071350" y="1335075"/>
            <a:ext cx="301800" cy="324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460675" y="3180025"/>
            <a:ext cx="28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Size = 9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42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158625" y="3951550"/>
            <a:ext cx="4189500" cy="8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14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85" name="Google Shape;185;p14"/>
          <p:cNvCxnSpPr/>
          <p:nvPr/>
        </p:nvCxnSpPr>
        <p:spPr>
          <a:xfrm flipH="1" rot="10800000">
            <a:off x="4821475" y="4185829"/>
            <a:ext cx="3343500" cy="25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6" name="Google Shape;186;p14"/>
          <p:cNvSpPr/>
          <p:nvPr/>
        </p:nvSpPr>
        <p:spPr>
          <a:xfrm>
            <a:off x="5508413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5845160" y="4093837"/>
            <a:ext cx="126000" cy="175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679890" y="41106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071345" y="4110562"/>
            <a:ext cx="126000" cy="175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4"/>
          <p:cNvCxnSpPr/>
          <p:nvPr/>
        </p:nvCxnSpPr>
        <p:spPr>
          <a:xfrm>
            <a:off x="6414457" y="3940750"/>
            <a:ext cx="0" cy="4269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4"/>
          <p:cNvSpPr txBox="1"/>
          <p:nvPr/>
        </p:nvSpPr>
        <p:spPr>
          <a:xfrm>
            <a:off x="6110552" y="4367650"/>
            <a:ext cx="6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58625" y="3951550"/>
            <a:ext cx="4189500" cy="8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0.9*9 + 0.1*42 = 8.1 + 4.2 = 12.3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15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" name="Google Shape;202;p15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28400" y="32583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x1, x2, ....., xn = Features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628400" y="3889500"/>
            <a:ext cx="42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w1, w2, ....., wn = Weights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5257525" y="3560175"/>
            <a:ext cx="2985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output/ target</a:t>
            </a:r>
            <a:endParaRPr b="0" i="0" sz="2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16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" name="Google Shape;214;p16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5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+ 0.9*5 = 0.2 + 4.5 = 4.7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benign</a:t>
            </a:r>
            <a:endParaRPr b="0" i="0" sz="2900" u="none" cap="none" strike="noStrike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17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17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30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+ 0.9*30 = 0.2 + 27 = 27.2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18"/>
          <p:cNvGraphicFramePr/>
          <p:nvPr/>
        </p:nvGraphicFramePr>
        <p:xfrm>
          <a:off x="158625" y="100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152100"/>
                <a:gridCol w="1152100"/>
                <a:gridCol w="1152100"/>
              </a:tblGrid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Tumor Size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benign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0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malignant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" name="Google Shape;234;p18"/>
          <p:cNvSpPr txBox="1"/>
          <p:nvPr/>
        </p:nvSpPr>
        <p:spPr>
          <a:xfrm>
            <a:off x="4172950" y="910175"/>
            <a:ext cx="506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3824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51777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2653125" y="527275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4027425" y="1725150"/>
            <a:ext cx="4189500" cy="152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w1 = 0.1 and w2 = 0.9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 = 2 and x2 = 30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0.1*2 + 0.9*30 = 0.2 + 27 = 27.2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malignant</a:t>
            </a:r>
            <a:endParaRPr b="0" i="0" sz="2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874400" y="3403650"/>
            <a:ext cx="57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are very important.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19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" name="Google Shape;249;p20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0"/>
          <p:cNvSpPr txBox="1"/>
          <p:nvPr/>
        </p:nvSpPr>
        <p:spPr>
          <a:xfrm>
            <a:off x="9638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2609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35579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x3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1520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8550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74491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21"/>
          <p:cNvGraphicFramePr/>
          <p:nvPr/>
        </p:nvGraphicFramePr>
        <p:xfrm>
          <a:off x="688050" y="11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{E465E065-B79D-4174-98FF-03CA9F936A82}</a:tableStyleId>
              </a:tblPr>
              <a:tblGrid>
                <a:gridCol w="1294650"/>
                <a:gridCol w="1294650"/>
                <a:gridCol w="1294650"/>
                <a:gridCol w="1294650"/>
                <a:gridCol w="1294650"/>
                <a:gridCol w="1294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Size(sq-feet)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Bedroom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Kitchen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road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Balcony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Price(dollar)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1"/>
          <p:cNvSpPr txBox="1"/>
          <p:nvPr/>
        </p:nvSpPr>
        <p:spPr>
          <a:xfrm>
            <a:off x="9638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x1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2609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5579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x3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15205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x5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8550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x4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7449100" y="662000"/>
            <a:ext cx="73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850950" y="41080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….. + w4 * x4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00" y="608863"/>
            <a:ext cx="8027990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if x3 is not important?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What if x3 is not important?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2182625" y="2743950"/>
            <a:ext cx="423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Simply set w3 = 0</a:t>
            </a:r>
            <a:endParaRPr b="0" i="0" sz="24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=  y</a:t>
            </a:r>
            <a:endParaRPr b="0" i="0" sz="24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/>
          <p:nvPr/>
        </p:nvSpPr>
        <p:spPr>
          <a:xfrm>
            <a:off x="4182900" y="3034650"/>
            <a:ext cx="851100" cy="8418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2249725" y="4600075"/>
            <a:ext cx="4785600" cy="5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/>
          <p:nvPr/>
        </p:nvSpPr>
        <p:spPr>
          <a:xfrm>
            <a:off x="2249725" y="4600075"/>
            <a:ext cx="4785600" cy="5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Mother Law of Machine Learning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850950" y="1871775"/>
            <a:ext cx="744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w1 * x1  +  w2 * x2 + w3 * x3 =  y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9250" y="2571750"/>
            <a:ext cx="4687048" cy="23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11700" y="249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Neural Network</a:t>
            </a:r>
            <a:endParaRPr/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250" y="1091775"/>
            <a:ext cx="5642580" cy="3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222250" y="864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Human Brain</a:t>
            </a:r>
            <a:endParaRPr/>
          </a:p>
        </p:txBody>
      </p:sp>
      <p:pic>
        <p:nvPicPr>
          <p:cNvPr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557" y="2413845"/>
            <a:ext cx="1956705" cy="13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1800" y="2413845"/>
            <a:ext cx="1956705" cy="13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253" y="2413844"/>
            <a:ext cx="1956705" cy="131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289350" y="2907975"/>
            <a:ext cx="178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7692450" y="2717775"/>
            <a:ext cx="145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528075" y="2717775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7683950" y="2571750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/>
          <p:nvPr>
            <p:ph type="title"/>
          </p:nvPr>
        </p:nvSpPr>
        <p:spPr>
          <a:xfrm>
            <a:off x="222250" y="86497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Machine Brain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289350" y="2907975"/>
            <a:ext cx="178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7692450" y="2717775"/>
            <a:ext cx="145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528075" y="2717775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7683950" y="2571750"/>
            <a:ext cx="1039800" cy="19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300" y="1706775"/>
            <a:ext cx="4448474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>
            <p:ph type="title"/>
          </p:nvPr>
        </p:nvSpPr>
        <p:spPr>
          <a:xfrm>
            <a:off x="311700" y="5854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362" name="Google Shape;362;p34"/>
          <p:cNvSpPr txBox="1"/>
          <p:nvPr/>
        </p:nvSpPr>
        <p:spPr>
          <a:xfrm>
            <a:off x="471875" y="1427225"/>
            <a:ext cx="589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CNN, Object Detection using Machine Learning</a:t>
            </a:r>
            <a:endParaRPr b="0" i="0" sz="21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00" y="2020450"/>
            <a:ext cx="4033349" cy="29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 So Much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