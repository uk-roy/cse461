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6858000" cx="9144000"/>
  <p:notesSz cx="6858000" cy="9144000"/>
  <p:embeddedFontLst>
    <p:embeddedFont>
      <p:font typeface="Arial Narrow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1" roundtripDataSignature="AMtx7mhB/AR/GEUVKEVi0r9zGBTt/JKL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ArialNarrow-bold.fntdata"/><Relationship Id="rId47" Type="http://schemas.openxmlformats.org/officeDocument/2006/relationships/font" Target="fonts/ArialNarrow-regular.fntdata"/><Relationship Id="rId49" Type="http://schemas.openxmlformats.org/officeDocument/2006/relationships/font" Target="fonts/ArialNarrow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customschemas.google.com/relationships/presentationmetadata" Target="metadata"/><Relationship Id="rId50" Type="http://schemas.openxmlformats.org/officeDocument/2006/relationships/font" Target="fonts/ArialNarrow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c21cebfdb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c21cebfd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c21cebfdb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c21cebfd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1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c21cebfdb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c21cebfd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c21cebfdb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8c21cebfd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c21cebfdb_0_45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8c21cebfd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1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c21cebfdb_0_12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8c21cebfdb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c21cebfdb_0_18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8c21cebfdb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1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c21cebfdb_0_24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8c21cebfdb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c21cebfdb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g38c21cebfdb_0_401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1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p1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" name="Google Shape;292;p1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p1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p1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p1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p1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" name="Google Shape;322;p1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8c21cebfdb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8c21cebfd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8c21cebfd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8c21cebf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p1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8c21cebfd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7" name="Google Shape;377;g38c21cebfdb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8c21cebfdb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2" name="Google Shape;382;g38c21cebfdb_0_487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8c21cebfdb_0_491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g38c21cebfdb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8c21cebfdb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5" name="Google Shape;395;g38c21cebfdb_0_498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8c21cebfdb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g38c21cebfdb_0_502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8c21cebfdb_0_50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8c21cebfdb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0" name="Google Shape;410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5" name="Google Shape;415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8c21cebfdb_0_51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g38c21cebfdb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8c21cebfdb_0_72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g38c21cebfdb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8c21cebfdb_0_52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38c21cebfdb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8c21cebfdb_0_52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g38c21cebfdb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8c21cebfdb_0_53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8c21cebfdb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8c21cebfdb_0_7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8c21cebfdb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8c21cebfdb_0_585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g38c21cebfdb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8c21cebfdb_0_59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g38c21cebfdb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8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18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9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3" name="Google Shape;43;p9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9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9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1" name="Google Shape;51;p9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9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9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8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9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9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9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9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c21cebfdb_0_1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g38c21cebfdb_0_1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g38c21cebfdb_0_111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c21cebfdb_0_71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6" name="Google Shape;86;g38c21cebfdb_0_718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c21cebfdb_0_721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9" name="Google Shape;89;g38c21cebfdb_0_721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gif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jpg"/><Relationship Id="rId4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youtube.com/watch?v=fn3KWM1kuAw" TargetMode="External"/><Relationship Id="rId4" Type="http://schemas.openxmlformats.org/officeDocument/2006/relationships/image" Target="../media/image2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 to Robotics</a:t>
            </a:r>
            <a:br>
              <a:rPr lang="en-US"/>
            </a:br>
            <a:r>
              <a:rPr lang="en-US"/>
              <a:t>CSE461</a:t>
            </a:r>
            <a:endParaRPr/>
          </a:p>
        </p:txBody>
      </p:sp>
      <p:sp>
        <p:nvSpPr>
          <p:cNvPr id="95" name="Google Shape;9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Utsha Kumar Roy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BRAC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38c21cebfdb_0_6" title="Screenshot from 2025-10-13 20-50-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75388"/>
            <a:ext cx="9144000" cy="570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27.jpg" id="105" name="Google Shape;105;p34"/>
          <p:cNvPicPr preferRelativeResize="0"/>
          <p:nvPr/>
        </p:nvPicPr>
        <p:blipFill rotWithShape="1">
          <a:blip r:embed="rId3">
            <a:alphaModFix/>
          </a:blip>
          <a:srcRect b="22376" l="3466" r="6040" t="23365"/>
          <a:stretch/>
        </p:blipFill>
        <p:spPr>
          <a:xfrm>
            <a:off x="516046" y="2009868"/>
            <a:ext cx="8274869" cy="37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Three primitives of robotics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c21cebfdb_0_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id="112" name="Google Shape;112;g38c21cebfdb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738" y="1995550"/>
            <a:ext cx="8628525" cy="2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5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A8CD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A8CDF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AI Primitives within an Agent</a:t>
            </a:r>
            <a:endParaRPr/>
          </a:p>
        </p:txBody>
      </p:sp>
      <p:sp>
        <p:nvSpPr>
          <p:cNvPr id="119" name="Google Shape;119;p145"/>
          <p:cNvSpPr/>
          <p:nvPr/>
        </p:nvSpPr>
        <p:spPr>
          <a:xfrm>
            <a:off x="914400" y="1828800"/>
            <a:ext cx="1828800" cy="1295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45"/>
          <p:cNvSpPr/>
          <p:nvPr/>
        </p:nvSpPr>
        <p:spPr>
          <a:xfrm>
            <a:off x="3657600" y="1828800"/>
            <a:ext cx="1828800" cy="1295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45"/>
          <p:cNvSpPr/>
          <p:nvPr/>
        </p:nvSpPr>
        <p:spPr>
          <a:xfrm>
            <a:off x="6400800" y="1828800"/>
            <a:ext cx="1828800" cy="1295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Wide downward diagonal" id="122" name="Google Shape;122;p145"/>
          <p:cNvSpPr/>
          <p:nvPr/>
        </p:nvSpPr>
        <p:spPr>
          <a:xfrm>
            <a:off x="3657600" y="4191000"/>
            <a:ext cx="1828800" cy="1295400"/>
          </a:xfrm>
          <a:prstGeom prst="rect">
            <a:avLst/>
          </a:prstGeom>
          <a:solidFill>
            <a:srgbClr val="0070C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38c21cebfdb_0_32" title="paradig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7600" y="152400"/>
            <a:ext cx="4368801" cy="6553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g38c21cebfdb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9138" y="51850"/>
            <a:ext cx="5065724" cy="675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c21cebfdb_0_45"/>
          <p:cNvSpPr txBox="1"/>
          <p:nvPr>
            <p:ph type="title"/>
          </p:nvPr>
        </p:nvSpPr>
        <p:spPr>
          <a:xfrm>
            <a:off x="311700" y="4264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0707"/>
              <a:buNone/>
            </a:pPr>
            <a:r>
              <a:rPr lang="en-US"/>
              <a:t>Reactive Paradigm </a:t>
            </a:r>
            <a:endParaRPr/>
          </a:p>
        </p:txBody>
      </p:sp>
      <p:pic>
        <p:nvPicPr>
          <p:cNvPr id="138" name="Google Shape;138;g38c21cebfdb_0_45" title="figure modified from [RM]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7603" y="2918917"/>
            <a:ext cx="4208800" cy="282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8c21cebfdb_0_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1013940"/>
            <a:ext cx="381000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1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A8CD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A8CDF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5" name="Google Shape;145;p151"/>
          <p:cNvGrpSpPr/>
          <p:nvPr/>
        </p:nvGrpSpPr>
        <p:grpSpPr>
          <a:xfrm>
            <a:off x="3886200" y="1066800"/>
            <a:ext cx="5257800" cy="6705600"/>
            <a:chOff x="2160" y="576"/>
            <a:chExt cx="3312" cy="4224"/>
          </a:xfrm>
        </p:grpSpPr>
        <p:pic>
          <p:nvPicPr>
            <p:cNvPr descr="autonomiclg" id="146" name="Google Shape;146;p1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60" y="576"/>
              <a:ext cx="3187" cy="4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151"/>
            <p:cNvSpPr/>
            <p:nvPr/>
          </p:nvSpPr>
          <p:spPr>
            <a:xfrm>
              <a:off x="2160" y="576"/>
              <a:ext cx="1962" cy="417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" name="Google Shape;148;p151"/>
            <p:cNvSpPr/>
            <p:nvPr/>
          </p:nvSpPr>
          <p:spPr>
            <a:xfrm>
              <a:off x="3362" y="3803"/>
              <a:ext cx="2110" cy="99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" name="Google Shape;149;p151"/>
            <p:cNvSpPr/>
            <p:nvPr/>
          </p:nvSpPr>
          <p:spPr>
            <a:xfrm>
              <a:off x="3425" y="576"/>
              <a:ext cx="1962" cy="3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50" name="Google Shape;150;p1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Reactive</a:t>
            </a:r>
            <a:endParaRPr/>
          </a:p>
        </p:txBody>
      </p:sp>
      <p:grpSp>
        <p:nvGrpSpPr>
          <p:cNvPr id="151" name="Google Shape;151;p151"/>
          <p:cNvGrpSpPr/>
          <p:nvPr/>
        </p:nvGrpSpPr>
        <p:grpSpPr>
          <a:xfrm>
            <a:off x="990600" y="1143000"/>
            <a:ext cx="4267200" cy="2559050"/>
            <a:chOff x="240" y="768"/>
            <a:chExt cx="4272" cy="2562"/>
          </a:xfrm>
        </p:grpSpPr>
        <p:sp>
          <p:nvSpPr>
            <p:cNvPr id="152" name="Google Shape;152;p151"/>
            <p:cNvSpPr/>
            <p:nvPr/>
          </p:nvSpPr>
          <p:spPr>
            <a:xfrm>
              <a:off x="1296" y="768"/>
              <a:ext cx="3216" cy="2562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53" name="Google Shape;153;p151"/>
            <p:cNvGrpSpPr/>
            <p:nvPr/>
          </p:nvGrpSpPr>
          <p:grpSpPr>
            <a:xfrm>
              <a:off x="1828" y="1040"/>
              <a:ext cx="2206" cy="517"/>
              <a:chOff x="1132" y="1262"/>
              <a:chExt cx="2206" cy="517"/>
            </a:xfrm>
          </p:grpSpPr>
          <p:sp>
            <p:nvSpPr>
              <p:cNvPr id="154" name="Google Shape;154;p151"/>
              <p:cNvSpPr/>
              <p:nvPr/>
            </p:nvSpPr>
            <p:spPr>
              <a:xfrm>
                <a:off x="2505" y="1262"/>
                <a:ext cx="833" cy="517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51"/>
              <p:cNvSpPr/>
              <p:nvPr/>
            </p:nvSpPr>
            <p:spPr>
              <a:xfrm>
                <a:off x="1132" y="1262"/>
                <a:ext cx="833" cy="517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SENSE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56" name="Google Shape;156;p151"/>
              <p:cNvCxnSpPr/>
              <p:nvPr/>
            </p:nvCxnSpPr>
            <p:spPr>
              <a:xfrm>
                <a:off x="1970" y="1501"/>
                <a:ext cx="531" cy="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grpSp>
          <p:nvGrpSpPr>
            <p:cNvPr id="157" name="Google Shape;157;p151"/>
            <p:cNvGrpSpPr/>
            <p:nvPr/>
          </p:nvGrpSpPr>
          <p:grpSpPr>
            <a:xfrm>
              <a:off x="1828" y="1808"/>
              <a:ext cx="2206" cy="517"/>
              <a:chOff x="1132" y="1262"/>
              <a:chExt cx="2206" cy="517"/>
            </a:xfrm>
          </p:grpSpPr>
          <p:sp>
            <p:nvSpPr>
              <p:cNvPr id="158" name="Google Shape;158;p151"/>
              <p:cNvSpPr/>
              <p:nvPr/>
            </p:nvSpPr>
            <p:spPr>
              <a:xfrm>
                <a:off x="2505" y="1262"/>
                <a:ext cx="833" cy="517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151"/>
              <p:cNvSpPr/>
              <p:nvPr/>
            </p:nvSpPr>
            <p:spPr>
              <a:xfrm>
                <a:off x="1132" y="1262"/>
                <a:ext cx="833" cy="517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SENSE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0" name="Google Shape;160;p151"/>
              <p:cNvCxnSpPr/>
              <p:nvPr/>
            </p:nvCxnSpPr>
            <p:spPr>
              <a:xfrm>
                <a:off x="1970" y="1501"/>
                <a:ext cx="531" cy="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grpSp>
          <p:nvGrpSpPr>
            <p:cNvPr id="161" name="Google Shape;161;p151"/>
            <p:cNvGrpSpPr/>
            <p:nvPr/>
          </p:nvGrpSpPr>
          <p:grpSpPr>
            <a:xfrm>
              <a:off x="1828" y="2576"/>
              <a:ext cx="2206" cy="517"/>
              <a:chOff x="1132" y="1262"/>
              <a:chExt cx="2206" cy="517"/>
            </a:xfrm>
          </p:grpSpPr>
          <p:sp>
            <p:nvSpPr>
              <p:cNvPr id="162" name="Google Shape;162;p151"/>
              <p:cNvSpPr/>
              <p:nvPr/>
            </p:nvSpPr>
            <p:spPr>
              <a:xfrm>
                <a:off x="2505" y="1262"/>
                <a:ext cx="833" cy="517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151"/>
              <p:cNvSpPr/>
              <p:nvPr/>
            </p:nvSpPr>
            <p:spPr>
              <a:xfrm>
                <a:off x="1132" y="1262"/>
                <a:ext cx="833" cy="517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SENSE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4" name="Google Shape;164;p151"/>
              <p:cNvCxnSpPr/>
              <p:nvPr/>
            </p:nvCxnSpPr>
            <p:spPr>
              <a:xfrm>
                <a:off x="1970" y="1501"/>
                <a:ext cx="531" cy="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sp>
          <p:nvSpPr>
            <p:cNvPr id="165" name="Google Shape;165;p151"/>
            <p:cNvSpPr/>
            <p:nvPr/>
          </p:nvSpPr>
          <p:spPr>
            <a:xfrm>
              <a:off x="240" y="1392"/>
              <a:ext cx="912" cy="64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PLAN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51"/>
            <p:cNvSpPr/>
            <p:nvPr/>
          </p:nvSpPr>
          <p:spPr>
            <a:xfrm>
              <a:off x="240" y="1296"/>
              <a:ext cx="960" cy="864"/>
            </a:xfrm>
            <a:custGeom>
              <a:rect b="b" l="l" r="r" t="t"/>
              <a:pathLst>
                <a:path extrusionOk="0" h="21600" w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8052" y="17304"/>
                  </a:moveTo>
                  <a:cubicBezTo>
                    <a:pt x="19655" y="15517"/>
                    <a:pt x="20542" y="13200"/>
                    <a:pt x="20542" y="10800"/>
                  </a:cubicBezTo>
                  <a:cubicBezTo>
                    <a:pt x="20542" y="5419"/>
                    <a:pt x="16180" y="1058"/>
                    <a:pt x="10800" y="1058"/>
                  </a:cubicBezTo>
                  <a:cubicBezTo>
                    <a:pt x="8399" y="1057"/>
                    <a:pt x="6082" y="1944"/>
                    <a:pt x="4295" y="3547"/>
                  </a:cubicBezTo>
                  <a:lnTo>
                    <a:pt x="18052" y="17304"/>
                  </a:lnTo>
                  <a:close/>
                  <a:moveTo>
                    <a:pt x="3547" y="4295"/>
                  </a:moveTo>
                  <a:cubicBezTo>
                    <a:pt x="1944" y="6082"/>
                    <a:pt x="1058" y="8399"/>
                    <a:pt x="1058" y="10799"/>
                  </a:cubicBezTo>
                  <a:cubicBezTo>
                    <a:pt x="1058" y="16180"/>
                    <a:pt x="5419" y="20542"/>
                    <a:pt x="10800" y="20542"/>
                  </a:cubicBezTo>
                  <a:cubicBezTo>
                    <a:pt x="13200" y="20542"/>
                    <a:pt x="15517" y="19655"/>
                    <a:pt x="17304" y="18052"/>
                  </a:cubicBezTo>
                  <a:lnTo>
                    <a:pt x="3547" y="4295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" name="Google Shape;167;p151"/>
          <p:cNvSpPr txBox="1"/>
          <p:nvPr/>
        </p:nvSpPr>
        <p:spPr>
          <a:xfrm>
            <a:off x="1143000" y="3886200"/>
            <a:ext cx="4419600" cy="2647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loved it because it worked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people loved it, but wanted to put PLAN back 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people hated it because couldn’t rigorously prove it worked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1"/>
          <p:cNvSpPr/>
          <p:nvPr/>
        </p:nvSpPr>
        <p:spPr>
          <a:xfrm>
            <a:off x="6400800" y="1371600"/>
            <a:ext cx="274320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151"/>
          <p:cNvSpPr/>
          <p:nvPr/>
        </p:nvSpPr>
        <p:spPr>
          <a:xfrm>
            <a:off x="6565900" y="2209800"/>
            <a:ext cx="1587500" cy="2578100"/>
          </a:xfrm>
          <a:custGeom>
            <a:rect b="b" l="l" r="r" t="t"/>
            <a:pathLst>
              <a:path extrusionOk="0" h="1624" w="1000">
                <a:moveTo>
                  <a:pt x="552" y="0"/>
                </a:moveTo>
                <a:cubicBezTo>
                  <a:pt x="660" y="8"/>
                  <a:pt x="768" y="16"/>
                  <a:pt x="840" y="144"/>
                </a:cubicBezTo>
                <a:cubicBezTo>
                  <a:pt x="912" y="272"/>
                  <a:pt x="968" y="584"/>
                  <a:pt x="984" y="768"/>
                </a:cubicBezTo>
                <a:cubicBezTo>
                  <a:pt x="1000" y="952"/>
                  <a:pt x="976" y="1112"/>
                  <a:pt x="936" y="1248"/>
                </a:cubicBezTo>
                <a:cubicBezTo>
                  <a:pt x="896" y="1384"/>
                  <a:pt x="880" y="1544"/>
                  <a:pt x="744" y="1584"/>
                </a:cubicBezTo>
                <a:cubicBezTo>
                  <a:pt x="608" y="1624"/>
                  <a:pt x="240" y="1592"/>
                  <a:pt x="120" y="1488"/>
                </a:cubicBezTo>
                <a:cubicBezTo>
                  <a:pt x="0" y="1384"/>
                  <a:pt x="24" y="1160"/>
                  <a:pt x="24" y="960"/>
                </a:cubicBezTo>
                <a:cubicBezTo>
                  <a:pt x="24" y="760"/>
                  <a:pt x="56" y="448"/>
                  <a:pt x="120" y="288"/>
                </a:cubicBezTo>
                <a:cubicBezTo>
                  <a:pt x="184" y="128"/>
                  <a:pt x="360" y="48"/>
                  <a:pt x="408" y="0"/>
                </a:cubicBezTo>
              </a:path>
            </a:pathLst>
          </a:custGeom>
          <a:noFill/>
          <a:ln cap="flat" cmpd="sng" w="38100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8c21cebfdb_0_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7212" y="169288"/>
            <a:ext cx="4889576" cy="6519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g38c21cebfdb_0_1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313" y="423973"/>
            <a:ext cx="8013374" cy="6010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7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A8CD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A8CDF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5" name="Google Shape;185;p147"/>
          <p:cNvGrpSpPr/>
          <p:nvPr/>
        </p:nvGrpSpPr>
        <p:grpSpPr>
          <a:xfrm>
            <a:off x="3733800" y="914400"/>
            <a:ext cx="5257800" cy="6705600"/>
            <a:chOff x="2160" y="576"/>
            <a:chExt cx="3312" cy="4224"/>
          </a:xfrm>
        </p:grpSpPr>
        <p:pic>
          <p:nvPicPr>
            <p:cNvPr descr="autonomiclg" id="186" name="Google Shape;186;p1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60" y="576"/>
              <a:ext cx="3187" cy="4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" name="Google Shape;187;p147"/>
            <p:cNvSpPr/>
            <p:nvPr/>
          </p:nvSpPr>
          <p:spPr>
            <a:xfrm>
              <a:off x="2160" y="576"/>
              <a:ext cx="1962" cy="417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8" name="Google Shape;188;p147"/>
            <p:cNvSpPr/>
            <p:nvPr/>
          </p:nvSpPr>
          <p:spPr>
            <a:xfrm>
              <a:off x="3362" y="3803"/>
              <a:ext cx="2110" cy="99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9" name="Google Shape;189;p147"/>
            <p:cNvSpPr/>
            <p:nvPr/>
          </p:nvSpPr>
          <p:spPr>
            <a:xfrm>
              <a:off x="3425" y="576"/>
              <a:ext cx="1962" cy="3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90" name="Google Shape;190;p1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Hierarchical/deliberative paradigm</a:t>
            </a:r>
            <a:endParaRPr/>
          </a:p>
        </p:txBody>
      </p:sp>
      <p:grpSp>
        <p:nvGrpSpPr>
          <p:cNvPr id="191" name="Google Shape;191;p147"/>
          <p:cNvGrpSpPr/>
          <p:nvPr/>
        </p:nvGrpSpPr>
        <p:grpSpPr>
          <a:xfrm>
            <a:off x="1066800" y="1535112"/>
            <a:ext cx="4191000" cy="1131888"/>
            <a:chOff x="1104" y="1200"/>
            <a:chExt cx="3552" cy="960"/>
          </a:xfrm>
        </p:grpSpPr>
        <p:sp>
          <p:nvSpPr>
            <p:cNvPr id="192" name="Google Shape;192;p147"/>
            <p:cNvSpPr/>
            <p:nvPr/>
          </p:nvSpPr>
          <p:spPr>
            <a:xfrm>
              <a:off x="1104" y="1200"/>
              <a:ext cx="3552" cy="96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93" name="Google Shape;193;p147"/>
            <p:cNvGrpSpPr/>
            <p:nvPr/>
          </p:nvGrpSpPr>
          <p:grpSpPr>
            <a:xfrm>
              <a:off x="1382" y="1392"/>
              <a:ext cx="2995" cy="538"/>
              <a:chOff x="1584" y="9062"/>
              <a:chExt cx="9072" cy="1738"/>
            </a:xfrm>
          </p:grpSpPr>
          <p:sp>
            <p:nvSpPr>
              <p:cNvPr id="194" name="Google Shape;194;p147"/>
              <p:cNvSpPr/>
              <p:nvPr/>
            </p:nvSpPr>
            <p:spPr>
              <a:xfrm>
                <a:off x="5373" y="9062"/>
                <a:ext cx="1778" cy="1175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PLAN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147"/>
              <p:cNvSpPr/>
              <p:nvPr/>
            </p:nvSpPr>
            <p:spPr>
              <a:xfrm>
                <a:off x="2443" y="9062"/>
                <a:ext cx="1778" cy="1175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SENSE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147"/>
              <p:cNvSpPr/>
              <p:nvPr/>
            </p:nvSpPr>
            <p:spPr>
              <a:xfrm>
                <a:off x="8302" y="9062"/>
                <a:ext cx="1778" cy="1175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6025" lIns="92075" spcFirstLastPara="1" rIns="92075" wrap="square" tIns="460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7" name="Google Shape;197;p147"/>
              <p:cNvCxnSpPr/>
              <p:nvPr/>
            </p:nvCxnSpPr>
            <p:spPr>
              <a:xfrm>
                <a:off x="4230" y="9605"/>
                <a:ext cx="1134" cy="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98" name="Google Shape;198;p147"/>
              <p:cNvCxnSpPr/>
              <p:nvPr/>
            </p:nvCxnSpPr>
            <p:spPr>
              <a:xfrm>
                <a:off x="7160" y="9605"/>
                <a:ext cx="1134" cy="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99" name="Google Shape;199;p147"/>
              <p:cNvCxnSpPr/>
              <p:nvPr/>
            </p:nvCxnSpPr>
            <p:spPr>
              <a:xfrm>
                <a:off x="10089" y="9605"/>
                <a:ext cx="567" cy="0"/>
              </a:xfrm>
              <a:prstGeom prst="straightConnector1">
                <a:avLst/>
              </a:prstGeom>
              <a:noFill/>
              <a:ln cap="flat" cmpd="sng" w="508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0" name="Google Shape;200;p147"/>
              <p:cNvCxnSpPr/>
              <p:nvPr/>
            </p:nvCxnSpPr>
            <p:spPr>
              <a:xfrm>
                <a:off x="10656" y="9605"/>
                <a:ext cx="0" cy="1195"/>
              </a:xfrm>
              <a:prstGeom prst="straightConnector1">
                <a:avLst/>
              </a:prstGeom>
              <a:noFill/>
              <a:ln cap="flat" cmpd="sng" w="508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1" name="Google Shape;201;p147"/>
              <p:cNvCxnSpPr/>
              <p:nvPr/>
            </p:nvCxnSpPr>
            <p:spPr>
              <a:xfrm rot="10800000">
                <a:off x="1584" y="10800"/>
                <a:ext cx="9072" cy="0"/>
              </a:xfrm>
              <a:prstGeom prst="straightConnector1">
                <a:avLst/>
              </a:prstGeom>
              <a:noFill/>
              <a:ln cap="flat" cmpd="sng" w="508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2" name="Google Shape;202;p147"/>
              <p:cNvCxnSpPr/>
              <p:nvPr/>
            </p:nvCxnSpPr>
            <p:spPr>
              <a:xfrm>
                <a:off x="1584" y="9605"/>
                <a:ext cx="851" cy="0"/>
              </a:xfrm>
              <a:prstGeom prst="straightConnector1">
                <a:avLst/>
              </a:prstGeom>
              <a:noFill/>
              <a:ln cap="flat" cmpd="sng" w="50800">
                <a:solidFill>
                  <a:srgbClr val="000000"/>
                </a:solidFill>
                <a:prstDash val="dash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203" name="Google Shape;203;p147"/>
              <p:cNvCxnSpPr/>
              <p:nvPr/>
            </p:nvCxnSpPr>
            <p:spPr>
              <a:xfrm>
                <a:off x="1584" y="9605"/>
                <a:ext cx="0" cy="1195"/>
              </a:xfrm>
              <a:prstGeom prst="straightConnector1">
                <a:avLst/>
              </a:prstGeom>
              <a:noFill/>
              <a:ln cap="flat" cmpd="sng" w="508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204" name="Google Shape;204;p147"/>
          <p:cNvSpPr/>
          <p:nvPr/>
        </p:nvSpPr>
        <p:spPr>
          <a:xfrm>
            <a:off x="2809875" y="22669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5" name="Google Shape;205;p147"/>
          <p:cNvGrpSpPr/>
          <p:nvPr/>
        </p:nvGrpSpPr>
        <p:grpSpPr>
          <a:xfrm>
            <a:off x="6324600" y="1219200"/>
            <a:ext cx="1682750" cy="2590800"/>
            <a:chOff x="3984" y="768"/>
            <a:chExt cx="1060" cy="1632"/>
          </a:xfrm>
        </p:grpSpPr>
        <p:sp>
          <p:nvSpPr>
            <p:cNvPr id="206" name="Google Shape;206;p147"/>
            <p:cNvSpPr txBox="1"/>
            <p:nvPr/>
          </p:nvSpPr>
          <p:spPr>
            <a:xfrm>
              <a:off x="4368" y="912"/>
              <a:ext cx="244" cy="3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33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47"/>
            <p:cNvSpPr txBox="1"/>
            <p:nvPr/>
          </p:nvSpPr>
          <p:spPr>
            <a:xfrm>
              <a:off x="4752" y="768"/>
              <a:ext cx="244" cy="3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33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47"/>
            <p:cNvSpPr txBox="1"/>
            <p:nvPr/>
          </p:nvSpPr>
          <p:spPr>
            <a:xfrm>
              <a:off x="4800" y="1584"/>
              <a:ext cx="244" cy="3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33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9" name="Google Shape;209;p147"/>
            <p:cNvCxnSpPr/>
            <p:nvPr/>
          </p:nvCxnSpPr>
          <p:spPr>
            <a:xfrm>
              <a:off x="4080" y="1104"/>
              <a:ext cx="336" cy="0"/>
            </a:xfrm>
            <a:prstGeom prst="straightConnector1">
              <a:avLst/>
            </a:prstGeom>
            <a:noFill/>
            <a:ln cap="flat" cmpd="sng" w="57150">
              <a:solidFill>
                <a:srgbClr val="0033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0" name="Google Shape;210;p147"/>
            <p:cNvCxnSpPr/>
            <p:nvPr/>
          </p:nvCxnSpPr>
          <p:spPr>
            <a:xfrm flipH="1" rot="10800000">
              <a:off x="4560" y="960"/>
              <a:ext cx="240" cy="96"/>
            </a:xfrm>
            <a:prstGeom prst="straightConnector1">
              <a:avLst/>
            </a:prstGeom>
            <a:noFill/>
            <a:ln cap="flat" cmpd="sng" w="57150">
              <a:solidFill>
                <a:srgbClr val="0033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1" name="Google Shape;211;p147"/>
            <p:cNvCxnSpPr/>
            <p:nvPr/>
          </p:nvCxnSpPr>
          <p:spPr>
            <a:xfrm>
              <a:off x="4800" y="1152"/>
              <a:ext cx="96" cy="336"/>
            </a:xfrm>
            <a:prstGeom prst="straightConnector1">
              <a:avLst/>
            </a:prstGeom>
            <a:noFill/>
            <a:ln cap="flat" cmpd="sng" w="57150">
              <a:solidFill>
                <a:srgbClr val="0033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2" name="Google Shape;212;p147"/>
            <p:cNvCxnSpPr/>
            <p:nvPr/>
          </p:nvCxnSpPr>
          <p:spPr>
            <a:xfrm rot="10800000">
              <a:off x="3984" y="2400"/>
              <a:ext cx="288" cy="0"/>
            </a:xfrm>
            <a:prstGeom prst="straightConnector1">
              <a:avLst/>
            </a:prstGeom>
            <a:noFill/>
            <a:ln cap="flat" cmpd="sng" w="57150">
              <a:solidFill>
                <a:srgbClr val="0033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13" name="Google Shape;213;p147"/>
          <p:cNvSpPr txBox="1"/>
          <p:nvPr/>
        </p:nvSpPr>
        <p:spPr>
          <a:xfrm>
            <a:off x="1143000" y="3505200"/>
            <a:ext cx="4114800" cy="22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people hated because didn’t “close the loop”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people hated because monolithic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hated because very slow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47"/>
          <p:cNvSpPr/>
          <p:nvPr/>
        </p:nvSpPr>
        <p:spPr>
          <a:xfrm>
            <a:off x="3126732" y="3275112"/>
            <a:ext cx="28905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Hierarchical/deliberative paradigm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g38c21cebfdb_0_2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2867" y="136813"/>
            <a:ext cx="4938275" cy="658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c21cebfdb_0_401"/>
          <p:cNvSpPr txBox="1"/>
          <p:nvPr>
            <p:ph type="title"/>
          </p:nvPr>
        </p:nvSpPr>
        <p:spPr>
          <a:xfrm>
            <a:off x="457200" y="205979"/>
            <a:ext cx="82296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/>
              <a:t>Hybrid deliberative/reactive paradigm</a:t>
            </a:r>
            <a:endParaRPr sz="3600"/>
          </a:p>
        </p:txBody>
      </p:sp>
      <p:grpSp>
        <p:nvGrpSpPr>
          <p:cNvPr id="225" name="Google Shape;225;g38c21cebfdb_0_401"/>
          <p:cNvGrpSpPr/>
          <p:nvPr/>
        </p:nvGrpSpPr>
        <p:grpSpPr>
          <a:xfrm>
            <a:off x="1030187" y="1344100"/>
            <a:ext cx="7083625" cy="4646900"/>
            <a:chOff x="1152" y="816"/>
            <a:chExt cx="3773" cy="2475"/>
          </a:xfrm>
        </p:grpSpPr>
        <p:grpSp>
          <p:nvGrpSpPr>
            <p:cNvPr id="226" name="Google Shape;226;g38c21cebfdb_0_401"/>
            <p:cNvGrpSpPr/>
            <p:nvPr/>
          </p:nvGrpSpPr>
          <p:grpSpPr>
            <a:xfrm>
              <a:off x="1152" y="2024"/>
              <a:ext cx="3389" cy="931"/>
              <a:chOff x="1152" y="2024"/>
              <a:chExt cx="3389" cy="931"/>
            </a:xfrm>
          </p:grpSpPr>
          <p:sp>
            <p:nvSpPr>
              <p:cNvPr id="227" name="Google Shape;227;g38c21cebfdb_0_401"/>
              <p:cNvSpPr/>
              <p:nvPr/>
            </p:nvSpPr>
            <p:spPr>
              <a:xfrm>
                <a:off x="1152" y="2024"/>
                <a:ext cx="3300" cy="900"/>
              </a:xfrm>
              <a:prstGeom prst="rect">
                <a:avLst/>
              </a:prstGeom>
              <a:solidFill>
                <a:schemeClr val="lt1"/>
              </a:solidFill>
              <a:ln cap="flat" cmpd="sng" w="33800">
                <a:solidFill>
                  <a:schemeClr val="accent2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54050" lIns="108125" spcFirstLastPara="1" rIns="108125" wrap="square" tIns="540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38"/>
                  <a:buFont typeface="Arial"/>
                  <a:buNone/>
                </a:pPr>
                <a:r>
                  <a:t/>
                </a:r>
                <a:endParaRPr b="0" i="0" sz="283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28" name="Google Shape;228;g38c21cebfdb_0_401"/>
              <p:cNvGrpSpPr/>
              <p:nvPr/>
            </p:nvGrpSpPr>
            <p:grpSpPr>
              <a:xfrm>
                <a:off x="1248" y="2086"/>
                <a:ext cx="3293" cy="869"/>
                <a:chOff x="1132" y="1262"/>
                <a:chExt cx="2273" cy="600"/>
              </a:xfrm>
            </p:grpSpPr>
            <p:sp>
              <p:nvSpPr>
                <p:cNvPr id="229" name="Google Shape;229;g38c21cebfdb_0_401"/>
                <p:cNvSpPr/>
                <p:nvPr/>
              </p:nvSpPr>
              <p:spPr>
                <a:xfrm>
                  <a:off x="2505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50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4425" lIns="108900" spcFirstLastPara="1" rIns="108900" wrap="square" tIns="54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4258"/>
                    <a:buFont typeface="Arial"/>
                    <a:buNone/>
                  </a:pPr>
                  <a:r>
                    <a:rPr b="0" i="0" lang="en-US" sz="425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ACT</a:t>
                  </a:r>
                  <a:endParaRPr b="0" i="0" sz="1655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0" name="Google Shape;230;g38c21cebfdb_0_401"/>
                <p:cNvSpPr/>
                <p:nvPr/>
              </p:nvSpPr>
              <p:spPr>
                <a:xfrm>
                  <a:off x="1132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50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4425" lIns="108900" spcFirstLastPara="1" rIns="108900" wrap="square" tIns="54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4258"/>
                    <a:buFont typeface="Arial"/>
                    <a:buNone/>
                  </a:pPr>
                  <a:r>
                    <a:rPr b="0" i="0" lang="en-US" sz="425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SENSE</a:t>
                  </a:r>
                  <a:endParaRPr b="0" i="0" sz="1655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1" name="Google Shape;231;g38c21cebfdb_0_401"/>
                <p:cNvCxnSpPr/>
                <p:nvPr/>
              </p:nvCxnSpPr>
              <p:spPr>
                <a:xfrm>
                  <a:off x="1970" y="1501"/>
                  <a:ext cx="600" cy="0"/>
                </a:xfrm>
                <a:prstGeom prst="straightConnector1">
                  <a:avLst/>
                </a:prstGeom>
                <a:noFill/>
                <a:ln cap="flat" cmpd="sng" w="90125">
                  <a:solidFill>
                    <a:srgbClr val="00000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</p:grpSp>
        <p:sp>
          <p:nvSpPr>
            <p:cNvPr id="232" name="Google Shape;232;g38c21cebfdb_0_401"/>
            <p:cNvSpPr/>
            <p:nvPr/>
          </p:nvSpPr>
          <p:spPr>
            <a:xfrm>
              <a:off x="2256" y="816"/>
              <a:ext cx="1200" cy="600"/>
            </a:xfrm>
            <a:prstGeom prst="rect">
              <a:avLst/>
            </a:prstGeom>
            <a:noFill/>
            <a:ln cap="flat" cmpd="sng" w="150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4425" lIns="108900" spcFirstLastPara="1" rIns="108900" wrap="square" tIns="54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58"/>
                <a:buFont typeface="Arial"/>
                <a:buNone/>
              </a:pPr>
              <a:r>
                <a:rPr b="0" i="0" lang="en-US" sz="425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 </a:t>
              </a:r>
              <a:endParaRPr b="0" i="0" sz="165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3" name="Google Shape;233;g38c21cebfdb_0_401"/>
            <p:cNvCxnSpPr/>
            <p:nvPr/>
          </p:nvCxnSpPr>
          <p:spPr>
            <a:xfrm>
              <a:off x="2832" y="1584"/>
              <a:ext cx="0" cy="300"/>
            </a:xfrm>
            <a:prstGeom prst="straightConnector1">
              <a:avLst/>
            </a:prstGeom>
            <a:noFill/>
            <a:ln cap="flat" cmpd="sng" w="901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234" name="Google Shape;234;g38c21cebfdb_0_401"/>
            <p:cNvGrpSpPr/>
            <p:nvPr/>
          </p:nvGrpSpPr>
          <p:grpSpPr>
            <a:xfrm>
              <a:off x="1344" y="2216"/>
              <a:ext cx="3389" cy="931"/>
              <a:chOff x="1152" y="2024"/>
              <a:chExt cx="3389" cy="931"/>
            </a:xfrm>
          </p:grpSpPr>
          <p:sp>
            <p:nvSpPr>
              <p:cNvPr id="235" name="Google Shape;235;g38c21cebfdb_0_401"/>
              <p:cNvSpPr/>
              <p:nvPr/>
            </p:nvSpPr>
            <p:spPr>
              <a:xfrm>
                <a:off x="1152" y="2024"/>
                <a:ext cx="3300" cy="900"/>
              </a:xfrm>
              <a:prstGeom prst="rect">
                <a:avLst/>
              </a:prstGeom>
              <a:solidFill>
                <a:schemeClr val="lt1"/>
              </a:solidFill>
              <a:ln cap="flat" cmpd="sng" w="33800">
                <a:solidFill>
                  <a:schemeClr val="accent2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54050" lIns="108125" spcFirstLastPara="1" rIns="108125" wrap="square" tIns="540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38"/>
                  <a:buFont typeface="Arial"/>
                  <a:buNone/>
                </a:pPr>
                <a:r>
                  <a:t/>
                </a:r>
                <a:endParaRPr b="0" i="0" sz="283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36" name="Google Shape;236;g38c21cebfdb_0_401"/>
              <p:cNvGrpSpPr/>
              <p:nvPr/>
            </p:nvGrpSpPr>
            <p:grpSpPr>
              <a:xfrm>
                <a:off x="1248" y="2086"/>
                <a:ext cx="3293" cy="869"/>
                <a:chOff x="1132" y="1262"/>
                <a:chExt cx="2273" cy="600"/>
              </a:xfrm>
            </p:grpSpPr>
            <p:sp>
              <p:nvSpPr>
                <p:cNvPr id="237" name="Google Shape;237;g38c21cebfdb_0_401"/>
                <p:cNvSpPr/>
                <p:nvPr/>
              </p:nvSpPr>
              <p:spPr>
                <a:xfrm>
                  <a:off x="2505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50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4425" lIns="108900" spcFirstLastPara="1" rIns="108900" wrap="square" tIns="54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4258"/>
                    <a:buFont typeface="Arial"/>
                    <a:buNone/>
                  </a:pPr>
                  <a:r>
                    <a:rPr b="0" i="0" lang="en-US" sz="425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ACT</a:t>
                  </a:r>
                  <a:endParaRPr b="0" i="0" sz="1655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" name="Google Shape;238;g38c21cebfdb_0_401"/>
                <p:cNvSpPr/>
                <p:nvPr/>
              </p:nvSpPr>
              <p:spPr>
                <a:xfrm>
                  <a:off x="1132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50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4425" lIns="108900" spcFirstLastPara="1" rIns="108900" wrap="square" tIns="54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4258"/>
                    <a:buFont typeface="Arial"/>
                    <a:buNone/>
                  </a:pPr>
                  <a:r>
                    <a:rPr b="0" i="0" lang="en-US" sz="425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SENSE</a:t>
                  </a:r>
                  <a:endParaRPr b="0" i="0" sz="1655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9" name="Google Shape;239;g38c21cebfdb_0_401"/>
                <p:cNvCxnSpPr/>
                <p:nvPr/>
              </p:nvCxnSpPr>
              <p:spPr>
                <a:xfrm>
                  <a:off x="1970" y="1501"/>
                  <a:ext cx="600" cy="0"/>
                </a:xfrm>
                <a:prstGeom prst="straightConnector1">
                  <a:avLst/>
                </a:prstGeom>
                <a:noFill/>
                <a:ln cap="flat" cmpd="sng" w="90125">
                  <a:solidFill>
                    <a:srgbClr val="00000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</p:grpSp>
        <p:grpSp>
          <p:nvGrpSpPr>
            <p:cNvPr id="240" name="Google Shape;240;g38c21cebfdb_0_401"/>
            <p:cNvGrpSpPr/>
            <p:nvPr/>
          </p:nvGrpSpPr>
          <p:grpSpPr>
            <a:xfrm>
              <a:off x="1536" y="2360"/>
              <a:ext cx="3389" cy="931"/>
              <a:chOff x="1152" y="2024"/>
              <a:chExt cx="3389" cy="931"/>
            </a:xfrm>
          </p:grpSpPr>
          <p:sp>
            <p:nvSpPr>
              <p:cNvPr id="241" name="Google Shape;241;g38c21cebfdb_0_401"/>
              <p:cNvSpPr/>
              <p:nvPr/>
            </p:nvSpPr>
            <p:spPr>
              <a:xfrm>
                <a:off x="1152" y="2024"/>
                <a:ext cx="3300" cy="900"/>
              </a:xfrm>
              <a:prstGeom prst="rect">
                <a:avLst/>
              </a:prstGeom>
              <a:solidFill>
                <a:schemeClr val="lt1"/>
              </a:solidFill>
              <a:ln cap="flat" cmpd="sng" w="33800">
                <a:solidFill>
                  <a:schemeClr val="accent2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54050" lIns="108125" spcFirstLastPara="1" rIns="108125" wrap="square" tIns="540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38"/>
                  <a:buFont typeface="Arial"/>
                  <a:buNone/>
                </a:pPr>
                <a:r>
                  <a:t/>
                </a:r>
                <a:endParaRPr b="0" i="0" sz="283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42" name="Google Shape;242;g38c21cebfdb_0_401"/>
              <p:cNvGrpSpPr/>
              <p:nvPr/>
            </p:nvGrpSpPr>
            <p:grpSpPr>
              <a:xfrm>
                <a:off x="1248" y="2086"/>
                <a:ext cx="3293" cy="869"/>
                <a:chOff x="1132" y="1262"/>
                <a:chExt cx="2273" cy="600"/>
              </a:xfrm>
            </p:grpSpPr>
            <p:sp>
              <p:nvSpPr>
                <p:cNvPr id="243" name="Google Shape;243;g38c21cebfdb_0_401"/>
                <p:cNvSpPr/>
                <p:nvPr/>
              </p:nvSpPr>
              <p:spPr>
                <a:xfrm>
                  <a:off x="2505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50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4425" lIns="108900" spcFirstLastPara="1" rIns="108900" wrap="square" tIns="54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4258"/>
                    <a:buFont typeface="Arial"/>
                    <a:buNone/>
                  </a:pPr>
                  <a:r>
                    <a:rPr b="0" i="0" lang="en-US" sz="425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ACT</a:t>
                  </a:r>
                  <a:endParaRPr b="0" i="0" sz="1655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" name="Google Shape;244;g38c21cebfdb_0_401"/>
                <p:cNvSpPr/>
                <p:nvPr/>
              </p:nvSpPr>
              <p:spPr>
                <a:xfrm>
                  <a:off x="1132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50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4425" lIns="108900" spcFirstLastPara="1" rIns="108900" wrap="square" tIns="54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4258"/>
                    <a:buFont typeface="Arial"/>
                    <a:buNone/>
                  </a:pPr>
                  <a:r>
                    <a:rPr b="0" i="0" lang="en-US" sz="425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SENSE</a:t>
                  </a:r>
                  <a:endParaRPr b="0" i="0" sz="1655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5" name="Google Shape;245;g38c21cebfdb_0_401"/>
                <p:cNvCxnSpPr/>
                <p:nvPr/>
              </p:nvCxnSpPr>
              <p:spPr>
                <a:xfrm>
                  <a:off x="1970" y="1501"/>
                  <a:ext cx="600" cy="0"/>
                </a:xfrm>
                <a:prstGeom prst="straightConnector1">
                  <a:avLst/>
                </a:prstGeom>
                <a:noFill/>
                <a:ln cap="flat" cmpd="sng" w="90125">
                  <a:solidFill>
                    <a:srgbClr val="00000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5"/>
          <p:cNvSpPr txBox="1"/>
          <p:nvPr>
            <p:ph idx="12" type="sldNum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A8CD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A8CDF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51" name="Google Shape;251;p155"/>
          <p:cNvGrpSpPr/>
          <p:nvPr/>
        </p:nvGrpSpPr>
        <p:grpSpPr>
          <a:xfrm>
            <a:off x="3733800" y="914400"/>
            <a:ext cx="5257800" cy="6705600"/>
            <a:chOff x="2160" y="576"/>
            <a:chExt cx="3312" cy="4224"/>
          </a:xfrm>
        </p:grpSpPr>
        <p:pic>
          <p:nvPicPr>
            <p:cNvPr descr="autonomiclg" id="252" name="Google Shape;252;p1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60" y="576"/>
              <a:ext cx="3187" cy="4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155"/>
            <p:cNvSpPr/>
            <p:nvPr/>
          </p:nvSpPr>
          <p:spPr>
            <a:xfrm>
              <a:off x="2160" y="576"/>
              <a:ext cx="1962" cy="417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4" name="Google Shape;254;p155"/>
            <p:cNvSpPr/>
            <p:nvPr/>
          </p:nvSpPr>
          <p:spPr>
            <a:xfrm>
              <a:off x="3362" y="3803"/>
              <a:ext cx="2110" cy="99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5" name="Google Shape;255;p155"/>
            <p:cNvSpPr/>
            <p:nvPr/>
          </p:nvSpPr>
          <p:spPr>
            <a:xfrm>
              <a:off x="3425" y="576"/>
              <a:ext cx="1962" cy="3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56" name="Google Shape;256;p1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Hybrid </a:t>
            </a:r>
            <a:endParaRPr/>
          </a:p>
        </p:txBody>
      </p:sp>
      <p:sp>
        <p:nvSpPr>
          <p:cNvPr id="257" name="Google Shape;257;p155"/>
          <p:cNvSpPr/>
          <p:nvPr/>
        </p:nvSpPr>
        <p:spPr>
          <a:xfrm>
            <a:off x="2809875" y="22669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155"/>
          <p:cNvSpPr txBox="1"/>
          <p:nvPr/>
        </p:nvSpPr>
        <p:spPr>
          <a:xfrm>
            <a:off x="1143000" y="4041775"/>
            <a:ext cx="4114800" cy="22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people hated it because AI, but are getting over it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people loved 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loved 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9" name="Google Shape;259;p155"/>
          <p:cNvGrpSpPr/>
          <p:nvPr/>
        </p:nvGrpSpPr>
        <p:grpSpPr>
          <a:xfrm>
            <a:off x="1524000" y="1449388"/>
            <a:ext cx="3657600" cy="2360612"/>
            <a:chOff x="1152" y="816"/>
            <a:chExt cx="3792" cy="2448"/>
          </a:xfrm>
        </p:grpSpPr>
        <p:grpSp>
          <p:nvGrpSpPr>
            <p:cNvPr id="260" name="Google Shape;260;p155"/>
            <p:cNvGrpSpPr/>
            <p:nvPr/>
          </p:nvGrpSpPr>
          <p:grpSpPr>
            <a:xfrm>
              <a:off x="1152" y="2024"/>
              <a:ext cx="3408" cy="904"/>
              <a:chOff x="1152" y="2024"/>
              <a:chExt cx="3408" cy="904"/>
            </a:xfrm>
          </p:grpSpPr>
          <p:sp>
            <p:nvSpPr>
              <p:cNvPr id="261" name="Google Shape;261;p155"/>
              <p:cNvSpPr/>
              <p:nvPr/>
            </p:nvSpPr>
            <p:spPr>
              <a:xfrm>
                <a:off x="1152" y="2024"/>
                <a:ext cx="3408" cy="904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chemeClr val="accent2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62" name="Google Shape;262;p155"/>
              <p:cNvGrpSpPr/>
              <p:nvPr/>
            </p:nvGrpSpPr>
            <p:grpSpPr>
              <a:xfrm>
                <a:off x="1248" y="2086"/>
                <a:ext cx="3196" cy="749"/>
                <a:chOff x="1132" y="1262"/>
                <a:chExt cx="2206" cy="517"/>
              </a:xfrm>
            </p:grpSpPr>
            <p:sp>
              <p:nvSpPr>
                <p:cNvPr id="263" name="Google Shape;263;p155"/>
                <p:cNvSpPr/>
                <p:nvPr/>
              </p:nvSpPr>
              <p:spPr>
                <a:xfrm>
                  <a:off x="2505" y="1262"/>
                  <a:ext cx="833" cy="5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ACT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" name="Google Shape;264;p155"/>
                <p:cNvSpPr/>
                <p:nvPr/>
              </p:nvSpPr>
              <p:spPr>
                <a:xfrm>
                  <a:off x="1132" y="1262"/>
                  <a:ext cx="833" cy="5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SENSE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5" name="Google Shape;265;p155"/>
                <p:cNvCxnSpPr/>
                <p:nvPr/>
              </p:nvCxnSpPr>
              <p:spPr>
                <a:xfrm>
                  <a:off x="1970" y="1501"/>
                  <a:ext cx="531" cy="0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rgbClr val="00000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</p:grpSp>
        <p:sp>
          <p:nvSpPr>
            <p:cNvPr id="266" name="Google Shape;266;p155"/>
            <p:cNvSpPr/>
            <p:nvPr/>
          </p:nvSpPr>
          <p:spPr>
            <a:xfrm>
              <a:off x="2256" y="816"/>
              <a:ext cx="1207" cy="749"/>
            </a:xfrm>
            <a:prstGeom prst="rect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025" lIns="92075" spcFirstLastPara="1" rIns="92075" wrap="square" tIns="46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7" name="Google Shape;267;p155"/>
            <p:cNvCxnSpPr/>
            <p:nvPr/>
          </p:nvCxnSpPr>
          <p:spPr>
            <a:xfrm>
              <a:off x="2832" y="1584"/>
              <a:ext cx="0" cy="336"/>
            </a:xfrm>
            <a:prstGeom prst="straightConnector1">
              <a:avLst/>
            </a:prstGeom>
            <a:noFill/>
            <a:ln cap="flat" cmpd="sng" w="444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268" name="Google Shape;268;p155"/>
            <p:cNvGrpSpPr/>
            <p:nvPr/>
          </p:nvGrpSpPr>
          <p:grpSpPr>
            <a:xfrm>
              <a:off x="1344" y="2216"/>
              <a:ext cx="3408" cy="904"/>
              <a:chOff x="1152" y="2024"/>
              <a:chExt cx="3408" cy="904"/>
            </a:xfrm>
          </p:grpSpPr>
          <p:sp>
            <p:nvSpPr>
              <p:cNvPr id="269" name="Google Shape;269;p155"/>
              <p:cNvSpPr/>
              <p:nvPr/>
            </p:nvSpPr>
            <p:spPr>
              <a:xfrm>
                <a:off x="1152" y="2024"/>
                <a:ext cx="3408" cy="904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chemeClr val="accent2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70" name="Google Shape;270;p155"/>
              <p:cNvGrpSpPr/>
              <p:nvPr/>
            </p:nvGrpSpPr>
            <p:grpSpPr>
              <a:xfrm>
                <a:off x="1248" y="2086"/>
                <a:ext cx="3196" cy="749"/>
                <a:chOff x="1132" y="1262"/>
                <a:chExt cx="2206" cy="517"/>
              </a:xfrm>
            </p:grpSpPr>
            <p:sp>
              <p:nvSpPr>
                <p:cNvPr id="271" name="Google Shape;271;p155"/>
                <p:cNvSpPr/>
                <p:nvPr/>
              </p:nvSpPr>
              <p:spPr>
                <a:xfrm>
                  <a:off x="2505" y="1262"/>
                  <a:ext cx="833" cy="5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ACT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" name="Google Shape;272;p155"/>
                <p:cNvSpPr/>
                <p:nvPr/>
              </p:nvSpPr>
              <p:spPr>
                <a:xfrm>
                  <a:off x="1132" y="1262"/>
                  <a:ext cx="833" cy="5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SENSE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3" name="Google Shape;273;p155"/>
                <p:cNvCxnSpPr/>
                <p:nvPr/>
              </p:nvCxnSpPr>
              <p:spPr>
                <a:xfrm>
                  <a:off x="1970" y="1501"/>
                  <a:ext cx="531" cy="0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rgbClr val="00000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</p:grpSp>
        <p:grpSp>
          <p:nvGrpSpPr>
            <p:cNvPr id="274" name="Google Shape;274;p155"/>
            <p:cNvGrpSpPr/>
            <p:nvPr/>
          </p:nvGrpSpPr>
          <p:grpSpPr>
            <a:xfrm>
              <a:off x="1536" y="2360"/>
              <a:ext cx="3408" cy="904"/>
              <a:chOff x="1152" y="2024"/>
              <a:chExt cx="3408" cy="904"/>
            </a:xfrm>
          </p:grpSpPr>
          <p:sp>
            <p:nvSpPr>
              <p:cNvPr id="275" name="Google Shape;275;p155"/>
              <p:cNvSpPr/>
              <p:nvPr/>
            </p:nvSpPr>
            <p:spPr>
              <a:xfrm>
                <a:off x="1152" y="2024"/>
                <a:ext cx="3408" cy="904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chemeClr val="accent2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76" name="Google Shape;276;p155"/>
              <p:cNvGrpSpPr/>
              <p:nvPr/>
            </p:nvGrpSpPr>
            <p:grpSpPr>
              <a:xfrm>
                <a:off x="1248" y="2086"/>
                <a:ext cx="3196" cy="749"/>
                <a:chOff x="1132" y="1262"/>
                <a:chExt cx="2206" cy="517"/>
              </a:xfrm>
            </p:grpSpPr>
            <p:sp>
              <p:nvSpPr>
                <p:cNvPr id="277" name="Google Shape;277;p155"/>
                <p:cNvSpPr/>
                <p:nvPr/>
              </p:nvSpPr>
              <p:spPr>
                <a:xfrm>
                  <a:off x="2505" y="1262"/>
                  <a:ext cx="833" cy="5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ACT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" name="Google Shape;278;p155"/>
                <p:cNvSpPr/>
                <p:nvPr/>
              </p:nvSpPr>
              <p:spPr>
                <a:xfrm>
                  <a:off x="1132" y="1262"/>
                  <a:ext cx="833" cy="5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SENSE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9" name="Google Shape;279;p155"/>
                <p:cNvCxnSpPr/>
                <p:nvPr/>
              </p:nvCxnSpPr>
              <p:spPr>
                <a:xfrm>
                  <a:off x="1970" y="1501"/>
                  <a:ext cx="531" cy="0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rgbClr val="00000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</p:grpSp>
      </p:grpSp>
      <p:sp>
        <p:nvSpPr>
          <p:cNvPr id="280" name="Google Shape;280;p155"/>
          <p:cNvSpPr/>
          <p:nvPr/>
        </p:nvSpPr>
        <p:spPr>
          <a:xfrm>
            <a:off x="6553200" y="2057400"/>
            <a:ext cx="1587500" cy="2578100"/>
          </a:xfrm>
          <a:custGeom>
            <a:rect b="b" l="l" r="r" t="t"/>
            <a:pathLst>
              <a:path extrusionOk="0" h="1624" w="1000">
                <a:moveTo>
                  <a:pt x="552" y="0"/>
                </a:moveTo>
                <a:cubicBezTo>
                  <a:pt x="660" y="8"/>
                  <a:pt x="768" y="16"/>
                  <a:pt x="840" y="144"/>
                </a:cubicBezTo>
                <a:cubicBezTo>
                  <a:pt x="912" y="272"/>
                  <a:pt x="968" y="584"/>
                  <a:pt x="984" y="768"/>
                </a:cubicBezTo>
                <a:cubicBezTo>
                  <a:pt x="1000" y="952"/>
                  <a:pt x="976" y="1112"/>
                  <a:pt x="936" y="1248"/>
                </a:cubicBezTo>
                <a:cubicBezTo>
                  <a:pt x="896" y="1384"/>
                  <a:pt x="880" y="1544"/>
                  <a:pt x="744" y="1584"/>
                </a:cubicBezTo>
                <a:cubicBezTo>
                  <a:pt x="608" y="1624"/>
                  <a:pt x="240" y="1592"/>
                  <a:pt x="120" y="1488"/>
                </a:cubicBezTo>
                <a:cubicBezTo>
                  <a:pt x="0" y="1384"/>
                  <a:pt x="24" y="1160"/>
                  <a:pt x="24" y="960"/>
                </a:cubicBezTo>
                <a:cubicBezTo>
                  <a:pt x="24" y="760"/>
                  <a:pt x="56" y="448"/>
                  <a:pt x="120" y="288"/>
                </a:cubicBezTo>
                <a:cubicBezTo>
                  <a:pt x="184" y="128"/>
                  <a:pt x="360" y="48"/>
                  <a:pt x="408" y="0"/>
                </a:cubicBezTo>
              </a:path>
            </a:pathLst>
          </a:custGeom>
          <a:noFill/>
          <a:ln cap="flat" cmpd="sng" w="38100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55"/>
          <p:cNvSpPr/>
          <p:nvPr/>
        </p:nvSpPr>
        <p:spPr>
          <a:xfrm>
            <a:off x="6832600" y="1524000"/>
            <a:ext cx="1397000" cy="393700"/>
          </a:xfrm>
          <a:custGeom>
            <a:rect b="b" l="l" r="r" t="t"/>
            <a:pathLst>
              <a:path extrusionOk="0" h="600" w="880">
                <a:moveTo>
                  <a:pt x="256" y="592"/>
                </a:moveTo>
                <a:cubicBezTo>
                  <a:pt x="448" y="596"/>
                  <a:pt x="640" y="600"/>
                  <a:pt x="736" y="544"/>
                </a:cubicBezTo>
                <a:cubicBezTo>
                  <a:pt x="832" y="488"/>
                  <a:pt x="880" y="344"/>
                  <a:pt x="832" y="256"/>
                </a:cubicBezTo>
                <a:cubicBezTo>
                  <a:pt x="784" y="168"/>
                  <a:pt x="576" y="32"/>
                  <a:pt x="448" y="16"/>
                </a:cubicBezTo>
                <a:cubicBezTo>
                  <a:pt x="320" y="0"/>
                  <a:pt x="128" y="80"/>
                  <a:pt x="64" y="160"/>
                </a:cubicBezTo>
                <a:cubicBezTo>
                  <a:pt x="0" y="240"/>
                  <a:pt x="48" y="432"/>
                  <a:pt x="64" y="496"/>
                </a:cubicBezTo>
                <a:cubicBezTo>
                  <a:pt x="80" y="560"/>
                  <a:pt x="120" y="552"/>
                  <a:pt x="160" y="544"/>
                </a:cubicBezTo>
              </a:path>
            </a:pathLst>
          </a:custGeom>
          <a:noFill/>
          <a:ln cap="flat" cmpd="sng" w="38100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" name="Google Shape;282;p155"/>
          <p:cNvCxnSpPr/>
          <p:nvPr/>
        </p:nvCxnSpPr>
        <p:spPr>
          <a:xfrm>
            <a:off x="7543800" y="1752600"/>
            <a:ext cx="0" cy="533400"/>
          </a:xfrm>
          <a:prstGeom prst="straightConnector1">
            <a:avLst/>
          </a:prstGeom>
          <a:noFill/>
          <a:ln cap="flat" cmpd="sng" w="38100">
            <a:solidFill>
              <a:srgbClr val="003366"/>
            </a:solidFill>
            <a:prstDash val="dot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ROBOTIC PARADIGMS</a:t>
            </a:r>
            <a:endParaRPr/>
          </a:p>
        </p:txBody>
      </p:sp>
      <p:sp>
        <p:nvSpPr>
          <p:cNvPr id="288" name="Google Shape;288;p1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Hierarchical/deliberative paradigm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 reactive paradigm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Hybrid deliberate/reactive paradigm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A fourth category, not always listed, is “Behavior-Based Control”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89" name="Google Shape;289;p146"/>
          <p:cNvSpPr/>
          <p:nvPr/>
        </p:nvSpPr>
        <p:spPr>
          <a:xfrm>
            <a:off x="2357727" y="5476052"/>
            <a:ext cx="41520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https://www.youtube.com/watch?v=dnidauuaWYU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Advantages</a:t>
            </a:r>
            <a:endParaRPr/>
          </a:p>
        </p:txBody>
      </p:sp>
      <p:sp>
        <p:nvSpPr>
          <p:cNvPr id="295" name="Google Shape;295;p15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Asynchronous processing technique allow to function Independently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Planner can slowly computer next goal while robot can perform reactive task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First reactive updates then global panner for planning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Good software Modularity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Local and Global Model</a:t>
            </a:r>
            <a:endParaRPr/>
          </a:p>
        </p:txBody>
      </p:sp>
      <p:sp>
        <p:nvSpPr>
          <p:cNvPr id="301" name="Google Shape;301;p15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Reactive for Local control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Deliberative for Global control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However; Robot behavioral management requires to know its current mission, state and environment beside path-planning, map-making,  monitoring etc. So, both local and global models are required to be considered for a robot performance.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Hierarchical/deliberative paradigm</a:t>
            </a:r>
            <a:endParaRPr/>
          </a:p>
        </p:txBody>
      </p:sp>
      <p:sp>
        <p:nvSpPr>
          <p:cNvPr id="307" name="Google Shape;307;p1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 robot operates in a top-down fashion, heavy on planning.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 robot senses the world, plans the next action, acts; at each step the robot explicitly plans the next move.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All the sensing data tends to be gathered into one global world model.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The reactive paradigm</a:t>
            </a:r>
            <a:endParaRPr/>
          </a:p>
        </p:txBody>
      </p:sp>
      <p:sp>
        <p:nvSpPr>
          <p:cNvPr id="313" name="Google Shape;313;p15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Sense-act type of organization.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 robot has multiple instances of Sense-Act couplings.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Robot take the local sensing data and compute the best action to take independently of what the other processes are doing.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 robot will do a combination of behaviours.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/>
              <a:t>Hybrid deliberate/reactive paradigm</a:t>
            </a:r>
            <a:endParaRPr/>
          </a:p>
        </p:txBody>
      </p:sp>
      <p:sp>
        <p:nvSpPr>
          <p:cNvPr id="319" name="Google Shape;319;p15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6176"/>
              <a:buChar char="•"/>
            </a:pPr>
            <a:r>
              <a:rPr lang="en-US"/>
              <a:t>The robot first plans (deliberates) how to best decompose a task into subtasks (also called “mission planning”) and then what are the suitable behaviours to accomplish each subtask.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6176"/>
              <a:buChar char="•"/>
            </a:pPr>
            <a:r>
              <a:rPr lang="en-US"/>
              <a:t>Then the behaviours starts executing as per the Reactive Paradigm.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6176"/>
              <a:buChar char="•"/>
            </a:pPr>
            <a:r>
              <a:rPr lang="en-US"/>
              <a:t>Sensing organization is also a mixture of Hierarchical and Reactive styles; sensor data gets routed to each behaviour that needs that sensor, but is also available to the planner for construction of a task-oriented global world model.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57"/>
          <p:cNvSpPr txBox="1"/>
          <p:nvPr>
            <p:ph idx="12" type="sldNum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A8CD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A8CDF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25" name="Google Shape;325;p157"/>
          <p:cNvGrpSpPr/>
          <p:nvPr/>
        </p:nvGrpSpPr>
        <p:grpSpPr>
          <a:xfrm>
            <a:off x="228585" y="4033693"/>
            <a:ext cx="4041648" cy="1023493"/>
            <a:chOff x="144" y="2541"/>
            <a:chExt cx="2546" cy="645"/>
          </a:xfrm>
        </p:grpSpPr>
        <p:grpSp>
          <p:nvGrpSpPr>
            <p:cNvPr id="326" name="Google Shape;326;p157"/>
            <p:cNvGrpSpPr/>
            <p:nvPr/>
          </p:nvGrpSpPr>
          <p:grpSpPr>
            <a:xfrm>
              <a:off x="1440" y="2541"/>
              <a:ext cx="1250" cy="469"/>
              <a:chOff x="288" y="2736"/>
              <a:chExt cx="2400" cy="900"/>
            </a:xfrm>
          </p:grpSpPr>
          <p:sp>
            <p:nvSpPr>
              <p:cNvPr id="327" name="Google Shape;327;p157"/>
              <p:cNvSpPr/>
              <p:nvPr/>
            </p:nvSpPr>
            <p:spPr>
              <a:xfrm>
                <a:off x="288" y="2736"/>
                <a:ext cx="2400" cy="9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328" name="Google Shape;328;p157"/>
              <p:cNvGrpSpPr/>
              <p:nvPr/>
            </p:nvGrpSpPr>
            <p:grpSpPr>
              <a:xfrm>
                <a:off x="384" y="2832"/>
                <a:ext cx="2052" cy="600"/>
                <a:chOff x="384" y="1488"/>
                <a:chExt cx="2052" cy="600"/>
              </a:xfrm>
            </p:grpSpPr>
            <p:sp>
              <p:nvSpPr>
                <p:cNvPr id="329" name="Google Shape;329;p157"/>
                <p:cNvSpPr/>
                <p:nvPr/>
              </p:nvSpPr>
              <p:spPr>
                <a:xfrm>
                  <a:off x="384" y="1488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 Narrow"/>
                      <a:ea typeface="Arial Narrow"/>
                      <a:cs typeface="Arial Narrow"/>
                      <a:sym typeface="Arial Narrow"/>
                    </a:rPr>
                    <a:t>sense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" name="Google Shape;330;p157"/>
                <p:cNvSpPr/>
                <p:nvPr/>
              </p:nvSpPr>
              <p:spPr>
                <a:xfrm>
                  <a:off x="1536" y="1488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 Narrow"/>
                      <a:ea typeface="Arial Narrow"/>
                      <a:cs typeface="Arial Narrow"/>
                      <a:sym typeface="Arial Narrow"/>
                    </a:rPr>
                    <a:t>act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1" name="Google Shape;331;p157"/>
                <p:cNvSpPr/>
                <p:nvPr/>
              </p:nvSpPr>
              <p:spPr>
                <a:xfrm>
                  <a:off x="1296" y="1632"/>
                  <a:ext cx="300" cy="300"/>
                </a:xfrm>
                <a:prstGeom prst="leftRightArrow">
                  <a:avLst>
                    <a:gd fmla="val 50000" name="adj1"/>
                    <a:gd fmla="val 20000" name="adj2"/>
                  </a:avLst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grpSp>
          <p:nvGrpSpPr>
            <p:cNvPr id="332" name="Google Shape;332;p157"/>
            <p:cNvGrpSpPr/>
            <p:nvPr/>
          </p:nvGrpSpPr>
          <p:grpSpPr>
            <a:xfrm>
              <a:off x="144" y="2541"/>
              <a:ext cx="1250" cy="469"/>
              <a:chOff x="288" y="2736"/>
              <a:chExt cx="2400" cy="900"/>
            </a:xfrm>
          </p:grpSpPr>
          <p:sp>
            <p:nvSpPr>
              <p:cNvPr id="333" name="Google Shape;333;p157"/>
              <p:cNvSpPr/>
              <p:nvPr/>
            </p:nvSpPr>
            <p:spPr>
              <a:xfrm>
                <a:off x="288" y="2736"/>
                <a:ext cx="2400" cy="9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334" name="Google Shape;334;p157"/>
              <p:cNvGrpSpPr/>
              <p:nvPr/>
            </p:nvGrpSpPr>
            <p:grpSpPr>
              <a:xfrm>
                <a:off x="384" y="2832"/>
                <a:ext cx="2052" cy="600"/>
                <a:chOff x="384" y="1488"/>
                <a:chExt cx="2052" cy="600"/>
              </a:xfrm>
            </p:grpSpPr>
            <p:sp>
              <p:nvSpPr>
                <p:cNvPr id="335" name="Google Shape;335;p157"/>
                <p:cNvSpPr/>
                <p:nvPr/>
              </p:nvSpPr>
              <p:spPr>
                <a:xfrm>
                  <a:off x="384" y="1488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 Narrow"/>
                      <a:ea typeface="Arial Narrow"/>
                      <a:cs typeface="Arial Narrow"/>
                      <a:sym typeface="Arial Narrow"/>
                    </a:rPr>
                    <a:t>sense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" name="Google Shape;336;p157"/>
                <p:cNvSpPr/>
                <p:nvPr/>
              </p:nvSpPr>
              <p:spPr>
                <a:xfrm>
                  <a:off x="1536" y="1488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 Narrow"/>
                      <a:ea typeface="Arial Narrow"/>
                      <a:cs typeface="Arial Narrow"/>
                      <a:sym typeface="Arial Narrow"/>
                    </a:rPr>
                    <a:t>act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" name="Google Shape;337;p157"/>
                <p:cNvSpPr/>
                <p:nvPr/>
              </p:nvSpPr>
              <p:spPr>
                <a:xfrm>
                  <a:off x="1296" y="1632"/>
                  <a:ext cx="300" cy="300"/>
                </a:xfrm>
                <a:prstGeom prst="leftRightArrow">
                  <a:avLst>
                    <a:gd fmla="val 50000" name="adj1"/>
                    <a:gd fmla="val 20000" name="adj2"/>
                  </a:avLst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grpSp>
          <p:nvGrpSpPr>
            <p:cNvPr id="338" name="Google Shape;338;p157"/>
            <p:cNvGrpSpPr/>
            <p:nvPr/>
          </p:nvGrpSpPr>
          <p:grpSpPr>
            <a:xfrm>
              <a:off x="816" y="2717"/>
              <a:ext cx="1250" cy="469"/>
              <a:chOff x="288" y="2736"/>
              <a:chExt cx="2400" cy="900"/>
            </a:xfrm>
          </p:grpSpPr>
          <p:sp>
            <p:nvSpPr>
              <p:cNvPr id="339" name="Google Shape;339;p157"/>
              <p:cNvSpPr/>
              <p:nvPr/>
            </p:nvSpPr>
            <p:spPr>
              <a:xfrm>
                <a:off x="288" y="2736"/>
                <a:ext cx="2400" cy="9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340" name="Google Shape;340;p157"/>
              <p:cNvGrpSpPr/>
              <p:nvPr/>
            </p:nvGrpSpPr>
            <p:grpSpPr>
              <a:xfrm>
                <a:off x="384" y="2832"/>
                <a:ext cx="2052" cy="600"/>
                <a:chOff x="384" y="1488"/>
                <a:chExt cx="2052" cy="600"/>
              </a:xfrm>
            </p:grpSpPr>
            <p:sp>
              <p:nvSpPr>
                <p:cNvPr id="341" name="Google Shape;341;p157"/>
                <p:cNvSpPr/>
                <p:nvPr/>
              </p:nvSpPr>
              <p:spPr>
                <a:xfrm>
                  <a:off x="384" y="1488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 Narrow"/>
                      <a:ea typeface="Arial Narrow"/>
                      <a:cs typeface="Arial Narrow"/>
                      <a:sym typeface="Arial Narrow"/>
                    </a:rPr>
                    <a:t>sense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2" name="Google Shape;342;p157"/>
                <p:cNvSpPr/>
                <p:nvPr/>
              </p:nvSpPr>
              <p:spPr>
                <a:xfrm>
                  <a:off x="1536" y="1488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Arial Narrow"/>
                      <a:ea typeface="Arial Narrow"/>
                      <a:cs typeface="Arial Narrow"/>
                      <a:sym typeface="Arial Narrow"/>
                    </a:rPr>
                    <a:t>act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3" name="Google Shape;343;p157"/>
                <p:cNvSpPr/>
                <p:nvPr/>
              </p:nvSpPr>
              <p:spPr>
                <a:xfrm>
                  <a:off x="1296" y="1632"/>
                  <a:ext cx="300" cy="300"/>
                </a:xfrm>
                <a:prstGeom prst="leftRightArrow">
                  <a:avLst>
                    <a:gd fmla="val 50000" name="adj1"/>
                    <a:gd fmla="val 20000" name="adj2"/>
                  </a:avLst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</p:grpSp>
      <p:grpSp>
        <p:nvGrpSpPr>
          <p:cNvPr id="344" name="Google Shape;344;p157"/>
          <p:cNvGrpSpPr/>
          <p:nvPr/>
        </p:nvGrpSpPr>
        <p:grpSpPr>
          <a:xfrm>
            <a:off x="76200" y="2209800"/>
            <a:ext cx="5372100" cy="1466850"/>
            <a:chOff x="48" y="1392"/>
            <a:chExt cx="3384" cy="924"/>
          </a:xfrm>
        </p:grpSpPr>
        <p:cxnSp>
          <p:nvCxnSpPr>
            <p:cNvPr id="345" name="Google Shape;345;p157"/>
            <p:cNvCxnSpPr/>
            <p:nvPr/>
          </p:nvCxnSpPr>
          <p:spPr>
            <a:xfrm>
              <a:off x="432" y="1869"/>
              <a:ext cx="30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Dot"/>
              <a:round/>
              <a:headEnd len="sm" w="sm" type="none"/>
              <a:tailEnd len="sm" w="sm" type="none"/>
            </a:ln>
          </p:spPr>
        </p:cxnSp>
        <p:sp>
          <p:nvSpPr>
            <p:cNvPr id="346" name="Google Shape;346;p157"/>
            <p:cNvSpPr/>
            <p:nvPr/>
          </p:nvSpPr>
          <p:spPr>
            <a:xfrm>
              <a:off x="48" y="1392"/>
              <a:ext cx="600" cy="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3366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monitoring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57"/>
            <p:cNvSpPr/>
            <p:nvPr/>
          </p:nvSpPr>
          <p:spPr>
            <a:xfrm>
              <a:off x="2016" y="1392"/>
              <a:ext cx="600" cy="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3366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generating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57"/>
            <p:cNvSpPr/>
            <p:nvPr/>
          </p:nvSpPr>
          <p:spPr>
            <a:xfrm>
              <a:off x="96" y="2016"/>
              <a:ext cx="600" cy="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3366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selecting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57"/>
            <p:cNvSpPr/>
            <p:nvPr/>
          </p:nvSpPr>
          <p:spPr>
            <a:xfrm>
              <a:off x="2016" y="2016"/>
              <a:ext cx="600" cy="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3366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implementing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" name="Google Shape;350;p157"/>
          <p:cNvGrpSpPr/>
          <p:nvPr/>
        </p:nvGrpSpPr>
        <p:grpSpPr>
          <a:xfrm>
            <a:off x="381000" y="2438400"/>
            <a:ext cx="5238750" cy="1614488"/>
            <a:chOff x="240" y="1536"/>
            <a:chExt cx="3300" cy="1017"/>
          </a:xfrm>
        </p:grpSpPr>
        <p:sp>
          <p:nvSpPr>
            <p:cNvPr id="351" name="Google Shape;351;p157"/>
            <p:cNvSpPr/>
            <p:nvPr/>
          </p:nvSpPr>
          <p:spPr>
            <a:xfrm>
              <a:off x="864" y="1536"/>
              <a:ext cx="1200" cy="6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2" name="Google Shape;352;p157"/>
            <p:cNvSpPr/>
            <p:nvPr/>
          </p:nvSpPr>
          <p:spPr>
            <a:xfrm>
              <a:off x="1296" y="2253"/>
              <a:ext cx="300" cy="300"/>
            </a:xfrm>
            <a:prstGeom prst="upDownArrow">
              <a:avLst>
                <a:gd fmla="val 50000" name="adj1"/>
                <a:gd fmla="val 25000" name="adj2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53" name="Google Shape;353;p157"/>
            <p:cNvCxnSpPr/>
            <p:nvPr/>
          </p:nvCxnSpPr>
          <p:spPr>
            <a:xfrm>
              <a:off x="240" y="2400"/>
              <a:ext cx="33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Dot"/>
              <a:round/>
              <a:headEnd len="sm" w="sm" type="none"/>
              <a:tailEnd len="sm" w="sm" type="none"/>
            </a:ln>
          </p:spPr>
        </p:cxnSp>
        <p:sp>
          <p:nvSpPr>
            <p:cNvPr id="354" name="Google Shape;354;p157"/>
            <p:cNvSpPr/>
            <p:nvPr/>
          </p:nvSpPr>
          <p:spPr>
            <a:xfrm>
              <a:off x="1392" y="1584"/>
              <a:ext cx="600" cy="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plan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57"/>
            <p:cNvSpPr/>
            <p:nvPr/>
          </p:nvSpPr>
          <p:spPr>
            <a:xfrm>
              <a:off x="912" y="1584"/>
              <a:ext cx="600" cy="6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World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model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6" name="Google Shape;356;p157"/>
          <p:cNvSpPr txBox="1"/>
          <p:nvPr/>
        </p:nvSpPr>
        <p:spPr>
          <a:xfrm>
            <a:off x="4582632" y="1795762"/>
            <a:ext cx="43434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Deliberative: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Upper level is </a:t>
            </a:r>
            <a:r>
              <a:rPr b="1" i="1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mission generation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&amp; </a:t>
            </a:r>
            <a:r>
              <a:rPr b="1" i="1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monitoring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But World Modeling &amp; Monitoring is hard (SA)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Lower level is </a:t>
            </a:r>
            <a:r>
              <a:rPr b="1" i="1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selection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of behaviors to accomplish task (</a:t>
            </a:r>
            <a:r>
              <a:rPr b="1" i="1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implementation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) &amp; local monitoring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57" name="Google Shape;357;p157"/>
          <p:cNvSpPr txBox="1"/>
          <p:nvPr>
            <p:ph type="title"/>
          </p:nvPr>
        </p:nvSpPr>
        <p:spPr>
          <a:xfrm>
            <a:off x="990600" y="228600"/>
            <a:ext cx="815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/>
              <a:t>How AI Relates to Factory Automation</a:t>
            </a:r>
            <a:endParaRPr/>
          </a:p>
        </p:txBody>
      </p:sp>
      <p:sp>
        <p:nvSpPr>
          <p:cNvPr id="358" name="Google Shape;358;p157"/>
          <p:cNvSpPr txBox="1"/>
          <p:nvPr/>
        </p:nvSpPr>
        <p:spPr>
          <a:xfrm>
            <a:off x="4572000" y="3962400"/>
            <a:ext cx="43068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Reactive (fly by wire, inner loop control):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Many concurrent stimulus-response behaviors, strung together with simple scripting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Action is generated by sensed or internal stimulus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No awareness, no monitoring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Models are of the vehicle, not the “larger” world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8c21cebfdb_0_17"/>
          <p:cNvSpPr txBox="1"/>
          <p:nvPr>
            <p:ph type="title"/>
          </p:nvPr>
        </p:nvSpPr>
        <p:spPr>
          <a:xfrm>
            <a:off x="408475" y="285748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Lets know, How robots work?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g38c21cebfdb_0_0" title="break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1904" y="309013"/>
            <a:ext cx="4159974" cy="6239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Sub-Systems</a:t>
            </a:r>
            <a:endParaRPr/>
          </a:p>
        </p:txBody>
      </p:sp>
      <p:sp>
        <p:nvSpPr>
          <p:cNvPr id="374" name="Google Shape;374;p14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Sense/Perception/ Recognition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Plan/Control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Act/Motor Action/Motion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Power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Communication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28.jpg" id="379" name="Google Shape;379;g38c21cebfdb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39.jpg" id="384" name="Google Shape;384;g38c21cebfdb_0_4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088800" cy="681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8c21cebfdb_0_491"/>
          <p:cNvSpPr txBox="1"/>
          <p:nvPr>
            <p:ph type="title"/>
          </p:nvPr>
        </p:nvSpPr>
        <p:spPr>
          <a:xfrm>
            <a:off x="311700" y="489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-US"/>
              <a:t>Sensor</a:t>
            </a:r>
            <a:endParaRPr/>
          </a:p>
        </p:txBody>
      </p:sp>
      <p:sp>
        <p:nvSpPr>
          <p:cNvPr id="390" name="Google Shape;390;g38c21cebfdb_0_491"/>
          <p:cNvSpPr txBox="1"/>
          <p:nvPr>
            <p:ph idx="1" type="body"/>
          </p:nvPr>
        </p:nvSpPr>
        <p:spPr>
          <a:xfrm>
            <a:off x="368550" y="1463297"/>
            <a:ext cx="8406900" cy="25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/>
              <a:t>A sensor is a device that detects or measures physical, chemical, or biological properties of the environment or a system and converts them into a signal that can be processed or analyzed.</a:t>
            </a:r>
            <a:endParaRPr/>
          </a:p>
        </p:txBody>
      </p:sp>
      <p:pic>
        <p:nvPicPr>
          <p:cNvPr id="391" name="Google Shape;391;g38c21cebfdb_0_4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650" y="3902124"/>
            <a:ext cx="603885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g38c21cebfdb_0_491"/>
          <p:cNvSpPr/>
          <p:nvPr/>
        </p:nvSpPr>
        <p:spPr>
          <a:xfrm>
            <a:off x="6308186" y="5897432"/>
            <a:ext cx="1530900" cy="72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41.jpg" id="397" name="Google Shape;397;g38c21cebfdb_0_4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42.jpg" id="402" name="Google Shape;402;g38c21cebfdb_0_5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4" cy="5143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g38c21cebfdb_0_5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488" y="365612"/>
            <a:ext cx="9182974" cy="612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43.jpg" id="412" name="Google Shape;41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44.jpg" id="417" name="Google Shape;41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g38c21cebfdb_0_5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88" y="716650"/>
            <a:ext cx="9086624" cy="5424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8c21cebfdb_0_724"/>
          <p:cNvSpPr txBox="1"/>
          <p:nvPr>
            <p:ph idx="1" type="body"/>
          </p:nvPr>
        </p:nvSpPr>
        <p:spPr>
          <a:xfrm>
            <a:off x="311700" y="7521022"/>
            <a:ext cx="59988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428" name="Google Shape;428;g38c21cebfdb_0_7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225" y="925437"/>
            <a:ext cx="8555475" cy="500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g38c21cebfdb_0_5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0" y="606900"/>
            <a:ext cx="9105024" cy="501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g38c21cebfdb_0_5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538" y="826650"/>
            <a:ext cx="8528924" cy="5204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8c21cebfdb_0_533"/>
          <p:cNvSpPr txBox="1"/>
          <p:nvPr>
            <p:ph idx="1" type="body"/>
          </p:nvPr>
        </p:nvSpPr>
        <p:spPr>
          <a:xfrm>
            <a:off x="598775" y="330675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Lidar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YDLIDAR X4 2D LiDAR Sensor" id="444" name="Google Shape;444;g38c21cebfdb_0_5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950" y="1275201"/>
            <a:ext cx="4267200" cy="3336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g38c21cebfdb_0_5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320284"/>
            <a:ext cx="4267200" cy="3246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g38c21cebfdb_0_789" title="Screenshot from 2025-10-13 21-45-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960200"/>
            <a:ext cx="8991599" cy="4937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8c21cebfdb_0_585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Let’s talk about a dream !</a:t>
            </a:r>
            <a:endParaRPr/>
          </a:p>
        </p:txBody>
      </p:sp>
      <p:sp>
        <p:nvSpPr>
          <p:cNvPr id="456" name="Google Shape;456;g38c21cebfdb_0_585"/>
          <p:cNvSpPr txBox="1"/>
          <p:nvPr/>
        </p:nvSpPr>
        <p:spPr>
          <a:xfrm>
            <a:off x="2369200" y="4299900"/>
            <a:ext cx="451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https://www.youtube.com/watch?v=fn3KWM1kuAw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7" name="Google Shape;457;g38c21cebfdb_0_5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4325" y="294233"/>
            <a:ext cx="3635338" cy="184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8c21cebfdb_0_596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User</dc:creator>
</cp:coreProperties>
</file>